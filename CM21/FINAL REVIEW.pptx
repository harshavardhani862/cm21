
<file path=[Content_Types].xml><?xml version="1.0" encoding="utf-8"?>
<Types xmlns="http://schemas.openxmlformats.org/package/2006/content-types">
  <Default Extension="emf" ContentType="image/x-emf"/>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76" r:id="rId4"/>
    <p:sldId id="259" r:id="rId5"/>
    <p:sldId id="268" r:id="rId6"/>
    <p:sldId id="260" r:id="rId7"/>
    <p:sldId id="261" r:id="rId8"/>
    <p:sldId id="270" r:id="rId9"/>
    <p:sldId id="262" r:id="rId10"/>
    <p:sldId id="263" r:id="rId11"/>
    <p:sldId id="269" r:id="rId12"/>
    <p:sldId id="271" r:id="rId13"/>
    <p:sldId id="265" r:id="rId14"/>
    <p:sldId id="272" r:id="rId15"/>
    <p:sldId id="273" r:id="rId16"/>
    <p:sldId id="274" r:id="rId17"/>
    <p:sldId id="275" r:id="rId18"/>
    <p:sldId id="264" r:id="rId19"/>
    <p:sldId id="277" r:id="rId20"/>
    <p:sldId id="266" r:id="rId21"/>
    <p:sldId id="267" r:id="rId22"/>
  </p:sldIdLst>
  <p:sldSz cx="18288000" cy="10287000"/>
  <p:notesSz cx="18288000" cy="10287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52" d="100"/>
          <a:sy n="52" d="100"/>
        </p:scale>
        <p:origin x="850" y="62"/>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1371600" y="3188970"/>
            <a:ext cx="15544800" cy="2160270"/>
          </a:xfrm>
          <a:prstGeom prst="rect">
            <a:avLst/>
          </a:prstGeom>
        </p:spPr>
        <p:txBody>
          <a:bodyPr wrap="square" lIns="0" tIns="0" rIns="0" bIns="0">
            <a:spAutoFit/>
          </a:bodyPr>
          <a:lstStyle>
            <a:lvl1pPr>
              <a:defRPr sz="4750" b="0" i="0">
                <a:solidFill>
                  <a:schemeClr val="bg1"/>
                </a:solidFill>
                <a:latin typeface="Times New Roman"/>
                <a:cs typeface="Times New Roman"/>
              </a:defRPr>
            </a:lvl1pPr>
          </a:lstStyle>
          <a:p>
            <a:endParaRPr/>
          </a:p>
        </p:txBody>
      </p:sp>
      <p:sp>
        <p:nvSpPr>
          <p:cNvPr id="3" name="Holder 3"/>
          <p:cNvSpPr>
            <a:spLocks noGrp="1"/>
          </p:cNvSpPr>
          <p:nvPr>
            <p:ph type="subTitle" idx="4"/>
          </p:nvPr>
        </p:nvSpPr>
        <p:spPr>
          <a:xfrm>
            <a:off x="2743200" y="5760720"/>
            <a:ext cx="12801600" cy="2571750"/>
          </a:xfrm>
          <a:prstGeom prst="rect">
            <a:avLst/>
          </a:prstGeom>
        </p:spPr>
        <p:txBody>
          <a:bodyPr wrap="square" lIns="0" tIns="0" rIns="0" bIns="0">
            <a:spAutoFit/>
          </a:bodyPr>
          <a:lstStyle>
            <a:lvl1pPr>
              <a:defRPr sz="3100" b="0" i="0">
                <a:solidFill>
                  <a:schemeClr val="bg1"/>
                </a:solidFill>
                <a:latin typeface="Poppins"/>
                <a:cs typeface="Poppins"/>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4/2/2026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750" b="0" i="0">
                <a:solidFill>
                  <a:schemeClr val="bg1"/>
                </a:solidFill>
                <a:latin typeface="Times New Roman"/>
                <a:cs typeface="Times New Roman"/>
              </a:defRPr>
            </a:lvl1pPr>
          </a:lstStyle>
          <a:p>
            <a:endParaRPr/>
          </a:p>
        </p:txBody>
      </p:sp>
      <p:sp>
        <p:nvSpPr>
          <p:cNvPr id="3" name="Holder 3"/>
          <p:cNvSpPr>
            <a:spLocks noGrp="1"/>
          </p:cNvSpPr>
          <p:nvPr>
            <p:ph type="body" idx="1"/>
          </p:nvPr>
        </p:nvSpPr>
        <p:spPr/>
        <p:txBody>
          <a:bodyPr lIns="0" tIns="0" rIns="0" bIns="0"/>
          <a:lstStyle>
            <a:lvl1pPr>
              <a:defRPr sz="3100" b="0" i="0">
                <a:solidFill>
                  <a:schemeClr val="bg1"/>
                </a:solidFill>
                <a:latin typeface="Poppins"/>
                <a:cs typeface="Poppins"/>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4/2/2026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750" b="0" i="0">
                <a:solidFill>
                  <a:schemeClr val="bg1"/>
                </a:solidFill>
                <a:latin typeface="Times New Roman"/>
                <a:cs typeface="Times New Roman"/>
              </a:defRPr>
            </a:lvl1pPr>
          </a:lstStyle>
          <a:p>
            <a:endParaRPr/>
          </a:p>
        </p:txBody>
      </p:sp>
      <p:sp>
        <p:nvSpPr>
          <p:cNvPr id="3" name="Holder 3"/>
          <p:cNvSpPr>
            <a:spLocks noGrp="1"/>
          </p:cNvSpPr>
          <p:nvPr>
            <p:ph sz="half" idx="2"/>
          </p:nvPr>
        </p:nvSpPr>
        <p:spPr>
          <a:xfrm>
            <a:off x="914400" y="2366010"/>
            <a:ext cx="7955280" cy="678942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9418320" y="2366010"/>
            <a:ext cx="7955280" cy="678942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4/2/2026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750" b="0" i="0">
                <a:solidFill>
                  <a:schemeClr val="bg1"/>
                </a:solidFill>
                <a:latin typeface="Times New Roman"/>
                <a:cs typeface="Times New Roman"/>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4/2/2026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4/2/2026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7" cstate="print"/>
          <a:stretch>
            <a:fillRect/>
          </a:stretch>
        </p:blipFill>
        <p:spPr>
          <a:xfrm>
            <a:off x="0" y="0"/>
            <a:ext cx="18287999" cy="10286999"/>
          </a:xfrm>
          <a:prstGeom prst="rect">
            <a:avLst/>
          </a:prstGeom>
        </p:spPr>
      </p:pic>
      <p:sp>
        <p:nvSpPr>
          <p:cNvPr id="2" name="Holder 2"/>
          <p:cNvSpPr>
            <a:spLocks noGrp="1"/>
          </p:cNvSpPr>
          <p:nvPr>
            <p:ph type="title"/>
          </p:nvPr>
        </p:nvSpPr>
        <p:spPr>
          <a:xfrm>
            <a:off x="2012094" y="3318087"/>
            <a:ext cx="12614910" cy="2551429"/>
          </a:xfrm>
          <a:prstGeom prst="rect">
            <a:avLst/>
          </a:prstGeom>
        </p:spPr>
        <p:txBody>
          <a:bodyPr wrap="square" lIns="0" tIns="0" rIns="0" bIns="0">
            <a:spAutoFit/>
          </a:bodyPr>
          <a:lstStyle>
            <a:lvl1pPr>
              <a:defRPr sz="4750" b="0" i="0">
                <a:solidFill>
                  <a:schemeClr val="bg1"/>
                </a:solidFill>
                <a:latin typeface="Times New Roman"/>
                <a:cs typeface="Times New Roman"/>
              </a:defRPr>
            </a:lvl1pPr>
          </a:lstStyle>
          <a:p>
            <a:endParaRPr/>
          </a:p>
        </p:txBody>
      </p:sp>
      <p:sp>
        <p:nvSpPr>
          <p:cNvPr id="3" name="Holder 3"/>
          <p:cNvSpPr>
            <a:spLocks noGrp="1"/>
          </p:cNvSpPr>
          <p:nvPr>
            <p:ph type="body" idx="1"/>
          </p:nvPr>
        </p:nvSpPr>
        <p:spPr>
          <a:xfrm>
            <a:off x="1174666" y="2055952"/>
            <a:ext cx="14659610" cy="5549900"/>
          </a:xfrm>
          <a:prstGeom prst="rect">
            <a:avLst/>
          </a:prstGeom>
        </p:spPr>
        <p:txBody>
          <a:bodyPr wrap="square" lIns="0" tIns="0" rIns="0" bIns="0">
            <a:spAutoFit/>
          </a:bodyPr>
          <a:lstStyle>
            <a:lvl1pPr>
              <a:defRPr sz="3100" b="0" i="0">
                <a:solidFill>
                  <a:schemeClr val="bg1"/>
                </a:solidFill>
                <a:latin typeface="Poppins"/>
                <a:cs typeface="Poppins"/>
              </a:defRPr>
            </a:lvl1pPr>
          </a:lstStyle>
          <a:p>
            <a:endParaRPr/>
          </a:p>
        </p:txBody>
      </p:sp>
      <p:sp>
        <p:nvSpPr>
          <p:cNvPr id="4" name="Holder 4"/>
          <p:cNvSpPr>
            <a:spLocks noGrp="1"/>
          </p:cNvSpPr>
          <p:nvPr>
            <p:ph type="ftr" sz="quarter" idx="5"/>
          </p:nvPr>
        </p:nvSpPr>
        <p:spPr>
          <a:xfrm>
            <a:off x="6217920" y="9566910"/>
            <a:ext cx="5852160" cy="51435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914400" y="9566910"/>
            <a:ext cx="4206240" cy="51435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4/2/2026</a:t>
            </a:fld>
            <a:endParaRPr lang="en-US"/>
          </a:p>
        </p:txBody>
      </p:sp>
      <p:sp>
        <p:nvSpPr>
          <p:cNvPr id="6" name="Holder 6"/>
          <p:cNvSpPr>
            <a:spLocks noGrp="1"/>
          </p:cNvSpPr>
          <p:nvPr>
            <p:ph type="sldNum" sz="quarter" idx="7"/>
          </p:nvPr>
        </p:nvSpPr>
        <p:spPr>
          <a:xfrm>
            <a:off x="13167361" y="9566910"/>
            <a:ext cx="4206240" cy="51435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4171266" y="203594"/>
            <a:ext cx="3857624" cy="3295649"/>
          </a:xfrm>
          <a:prstGeom prst="rect">
            <a:avLst/>
          </a:prstGeom>
        </p:spPr>
      </p:pic>
      <p:sp>
        <p:nvSpPr>
          <p:cNvPr id="3" name="object 3" descr="$PPTXTitle"/>
          <p:cNvSpPr txBox="1">
            <a:spLocks noGrp="1"/>
          </p:cNvSpPr>
          <p:nvPr>
            <p:ph type="title"/>
          </p:nvPr>
        </p:nvSpPr>
        <p:spPr>
          <a:xfrm>
            <a:off x="2012094" y="3318087"/>
            <a:ext cx="12614910" cy="2304542"/>
          </a:xfrm>
          <a:prstGeom prst="rect">
            <a:avLst/>
          </a:prstGeom>
        </p:spPr>
        <p:txBody>
          <a:bodyPr vert="horz" wrap="square" lIns="0" tIns="12065" rIns="0" bIns="0" rtlCol="0">
            <a:spAutoFit/>
          </a:bodyPr>
          <a:lstStyle/>
          <a:p>
            <a:pPr marL="12700" marR="5080" algn="ctr">
              <a:lnSpc>
                <a:spcPct val="116300"/>
              </a:lnSpc>
              <a:spcBef>
                <a:spcPts val="95"/>
              </a:spcBef>
            </a:pPr>
            <a:r>
              <a:rPr sz="4400" dirty="0"/>
              <a:t>FAKE</a:t>
            </a:r>
            <a:r>
              <a:rPr sz="4400" spc="-30" dirty="0"/>
              <a:t> </a:t>
            </a:r>
            <a:r>
              <a:rPr sz="4400" dirty="0"/>
              <a:t>NEWS</a:t>
            </a:r>
            <a:r>
              <a:rPr sz="4400" spc="-25" dirty="0"/>
              <a:t> </a:t>
            </a:r>
            <a:r>
              <a:rPr sz="4400" dirty="0"/>
              <a:t>AND</a:t>
            </a:r>
            <a:r>
              <a:rPr sz="4400" spc="-25" dirty="0"/>
              <a:t> </a:t>
            </a:r>
            <a:r>
              <a:rPr sz="4400" dirty="0"/>
              <a:t>IMAGE</a:t>
            </a:r>
            <a:r>
              <a:rPr sz="4400" spc="-30" dirty="0"/>
              <a:t> </a:t>
            </a:r>
            <a:r>
              <a:rPr sz="4400" dirty="0"/>
              <a:t>DETECTION</a:t>
            </a:r>
            <a:r>
              <a:rPr sz="4400" spc="-25" dirty="0"/>
              <a:t> </a:t>
            </a:r>
            <a:r>
              <a:rPr sz="4400" spc="-10" dirty="0"/>
              <a:t>USING </a:t>
            </a:r>
            <a:r>
              <a:rPr sz="4400" dirty="0"/>
              <a:t>TEXT</a:t>
            </a:r>
            <a:r>
              <a:rPr sz="4400" spc="-25" dirty="0"/>
              <a:t> </a:t>
            </a:r>
            <a:r>
              <a:rPr sz="4400" spc="-30" dirty="0"/>
              <a:t>-</a:t>
            </a:r>
            <a:r>
              <a:rPr sz="4400" dirty="0"/>
              <a:t>ANALYSIS</a:t>
            </a:r>
            <a:r>
              <a:rPr sz="4400" spc="-20" dirty="0"/>
              <a:t> </a:t>
            </a:r>
            <a:r>
              <a:rPr sz="4400" dirty="0"/>
              <a:t>AND</a:t>
            </a:r>
            <a:r>
              <a:rPr sz="4400" spc="-25" dirty="0"/>
              <a:t> </a:t>
            </a:r>
            <a:r>
              <a:rPr sz="4400" dirty="0"/>
              <a:t>AI</a:t>
            </a:r>
            <a:r>
              <a:rPr sz="4400" spc="-20" dirty="0"/>
              <a:t> </a:t>
            </a:r>
            <a:r>
              <a:rPr sz="4400" spc="-10" dirty="0"/>
              <a:t>GENERATED </a:t>
            </a:r>
            <a:r>
              <a:rPr sz="4400" dirty="0"/>
              <a:t>IMAGE</a:t>
            </a:r>
            <a:r>
              <a:rPr sz="4400" spc="-40" dirty="0"/>
              <a:t> </a:t>
            </a:r>
            <a:r>
              <a:rPr sz="4400" spc="-10" dirty="0"/>
              <a:t>IDENTIFICATION</a:t>
            </a:r>
          </a:p>
        </p:txBody>
      </p:sp>
      <p:sp>
        <p:nvSpPr>
          <p:cNvPr id="4" name="object 4"/>
          <p:cNvSpPr txBox="1"/>
          <p:nvPr/>
        </p:nvSpPr>
        <p:spPr>
          <a:xfrm>
            <a:off x="403354" y="7078767"/>
            <a:ext cx="6330950" cy="2082800"/>
          </a:xfrm>
          <a:prstGeom prst="rect">
            <a:avLst/>
          </a:prstGeom>
        </p:spPr>
        <p:txBody>
          <a:bodyPr vert="horz" wrap="square" lIns="0" tIns="83820" rIns="0" bIns="0" rtlCol="0">
            <a:spAutoFit/>
          </a:bodyPr>
          <a:lstStyle/>
          <a:p>
            <a:pPr algn="ctr">
              <a:lnSpc>
                <a:spcPct val="100000"/>
              </a:lnSpc>
              <a:spcBef>
                <a:spcPts val="660"/>
              </a:spcBef>
            </a:pPr>
            <a:r>
              <a:rPr sz="2900" b="1" dirty="0">
                <a:solidFill>
                  <a:srgbClr val="FFFFFF"/>
                </a:solidFill>
                <a:latin typeface="Poppins"/>
                <a:cs typeface="Poppins"/>
              </a:rPr>
              <a:t>TEAM</a:t>
            </a:r>
            <a:r>
              <a:rPr sz="2900" b="1" spc="55" dirty="0">
                <a:solidFill>
                  <a:srgbClr val="FFFFFF"/>
                </a:solidFill>
                <a:latin typeface="Poppins"/>
                <a:cs typeface="Poppins"/>
              </a:rPr>
              <a:t> </a:t>
            </a:r>
            <a:r>
              <a:rPr sz="2900" b="1" spc="-10" dirty="0">
                <a:solidFill>
                  <a:srgbClr val="FFFFFF"/>
                </a:solidFill>
                <a:latin typeface="Poppins"/>
                <a:cs typeface="Poppins"/>
              </a:rPr>
              <a:t>MEMBERS:</a:t>
            </a:r>
            <a:endParaRPr sz="2900">
              <a:latin typeface="Poppins"/>
              <a:cs typeface="Poppins"/>
            </a:endParaRPr>
          </a:p>
          <a:p>
            <a:pPr marL="171450" marR="163830" algn="ctr">
              <a:lnSpc>
                <a:spcPct val="116399"/>
              </a:lnSpc>
            </a:pPr>
            <a:r>
              <a:rPr sz="2900" dirty="0">
                <a:solidFill>
                  <a:srgbClr val="FFFFFF"/>
                </a:solidFill>
                <a:latin typeface="Poppins"/>
                <a:cs typeface="Poppins"/>
              </a:rPr>
              <a:t>R.HARSHA</a:t>
            </a:r>
            <a:r>
              <a:rPr sz="2900" spc="110" dirty="0">
                <a:solidFill>
                  <a:srgbClr val="FFFFFF"/>
                </a:solidFill>
                <a:latin typeface="Poppins"/>
                <a:cs typeface="Poppins"/>
              </a:rPr>
              <a:t> </a:t>
            </a:r>
            <a:r>
              <a:rPr sz="2900" spc="-10" dirty="0">
                <a:solidFill>
                  <a:srgbClr val="FFFFFF"/>
                </a:solidFill>
                <a:latin typeface="Poppins"/>
                <a:cs typeface="Poppins"/>
              </a:rPr>
              <a:t>VARDHANI,Y22ACM467 P.RAVI,Y22ACM465</a:t>
            </a:r>
            <a:endParaRPr sz="2900">
              <a:latin typeface="Poppins"/>
              <a:cs typeface="Poppins"/>
            </a:endParaRPr>
          </a:p>
          <a:p>
            <a:pPr algn="ctr">
              <a:lnSpc>
                <a:spcPct val="100000"/>
              </a:lnSpc>
              <a:spcBef>
                <a:spcPts val="570"/>
              </a:spcBef>
            </a:pPr>
            <a:r>
              <a:rPr sz="2900" dirty="0">
                <a:solidFill>
                  <a:srgbClr val="FFFFFF"/>
                </a:solidFill>
                <a:latin typeface="Poppins"/>
                <a:cs typeface="Poppins"/>
              </a:rPr>
              <a:t>P.SAI</a:t>
            </a:r>
            <a:r>
              <a:rPr sz="2900" spc="70" dirty="0">
                <a:solidFill>
                  <a:srgbClr val="FFFFFF"/>
                </a:solidFill>
                <a:latin typeface="Poppins"/>
                <a:cs typeface="Poppins"/>
              </a:rPr>
              <a:t> </a:t>
            </a:r>
            <a:r>
              <a:rPr sz="2900" dirty="0">
                <a:solidFill>
                  <a:srgbClr val="FFFFFF"/>
                </a:solidFill>
                <a:latin typeface="Poppins"/>
                <a:cs typeface="Poppins"/>
              </a:rPr>
              <a:t>VENKATA</a:t>
            </a:r>
            <a:r>
              <a:rPr sz="2900" spc="75" dirty="0">
                <a:solidFill>
                  <a:srgbClr val="FFFFFF"/>
                </a:solidFill>
                <a:latin typeface="Poppins"/>
                <a:cs typeface="Poppins"/>
              </a:rPr>
              <a:t> </a:t>
            </a:r>
            <a:r>
              <a:rPr sz="2900" spc="-10" dirty="0">
                <a:solidFill>
                  <a:srgbClr val="FFFFFF"/>
                </a:solidFill>
                <a:latin typeface="Poppins"/>
                <a:cs typeface="Poppins"/>
              </a:rPr>
              <a:t>RAJESH,Y22ACM462</a:t>
            </a:r>
            <a:endParaRPr sz="2900">
              <a:latin typeface="Poppins"/>
              <a:cs typeface="Poppins"/>
            </a:endParaRPr>
          </a:p>
        </p:txBody>
      </p:sp>
      <p:sp>
        <p:nvSpPr>
          <p:cNvPr id="5" name="object 5"/>
          <p:cNvSpPr txBox="1"/>
          <p:nvPr/>
        </p:nvSpPr>
        <p:spPr>
          <a:xfrm>
            <a:off x="13270055" y="7287022"/>
            <a:ext cx="4307840" cy="2203039"/>
          </a:xfrm>
          <a:prstGeom prst="rect">
            <a:avLst/>
          </a:prstGeom>
        </p:spPr>
        <p:txBody>
          <a:bodyPr vert="horz" wrap="square" lIns="0" tIns="12065" rIns="0" bIns="0" rtlCol="0">
            <a:spAutoFit/>
          </a:bodyPr>
          <a:lstStyle/>
          <a:p>
            <a:pPr marL="803275" marR="690880" indent="-104775" algn="ctr">
              <a:lnSpc>
                <a:spcPct val="116799"/>
              </a:lnSpc>
              <a:spcBef>
                <a:spcPts val="95"/>
              </a:spcBef>
            </a:pPr>
            <a:r>
              <a:rPr sz="3050" b="1" dirty="0">
                <a:solidFill>
                  <a:srgbClr val="FFFFFF"/>
                </a:solidFill>
                <a:latin typeface="Poppins"/>
                <a:cs typeface="Poppins"/>
              </a:rPr>
              <a:t>GUIDED</a:t>
            </a:r>
            <a:r>
              <a:rPr sz="3050" b="1" spc="10" dirty="0">
                <a:solidFill>
                  <a:srgbClr val="FFFFFF"/>
                </a:solidFill>
                <a:latin typeface="Poppins"/>
                <a:cs typeface="Poppins"/>
              </a:rPr>
              <a:t> </a:t>
            </a:r>
            <a:r>
              <a:rPr sz="3050" b="1" spc="-25" dirty="0">
                <a:solidFill>
                  <a:srgbClr val="FFFFFF"/>
                </a:solidFill>
                <a:latin typeface="Poppins"/>
                <a:cs typeface="Poppins"/>
              </a:rPr>
              <a:t>BY</a:t>
            </a:r>
            <a:r>
              <a:rPr sz="3050" spc="-25" dirty="0">
                <a:solidFill>
                  <a:srgbClr val="FFFFFF"/>
                </a:solidFill>
                <a:latin typeface="Poppins"/>
                <a:cs typeface="Poppins"/>
              </a:rPr>
              <a:t>: </a:t>
            </a:r>
            <a:r>
              <a:rPr sz="3050" dirty="0">
                <a:solidFill>
                  <a:srgbClr val="FFFFFF"/>
                </a:solidFill>
                <a:latin typeface="Poppins"/>
                <a:cs typeface="Poppins"/>
              </a:rPr>
              <a:t>B.KISHOR</a:t>
            </a:r>
            <a:r>
              <a:rPr sz="3050" spc="5" dirty="0">
                <a:solidFill>
                  <a:srgbClr val="FFFFFF"/>
                </a:solidFill>
                <a:latin typeface="Poppins"/>
                <a:cs typeface="Poppins"/>
              </a:rPr>
              <a:t> </a:t>
            </a:r>
            <a:r>
              <a:rPr sz="3050" spc="-20" dirty="0">
                <a:solidFill>
                  <a:srgbClr val="FFFFFF"/>
                </a:solidFill>
                <a:latin typeface="Poppins"/>
                <a:cs typeface="Poppins"/>
              </a:rPr>
              <a:t>BABU</a:t>
            </a:r>
            <a:endParaRPr sz="3050" dirty="0">
              <a:latin typeface="Poppins"/>
              <a:cs typeface="Poppins"/>
            </a:endParaRPr>
          </a:p>
          <a:p>
            <a:pPr algn="ctr">
              <a:lnSpc>
                <a:spcPct val="100000"/>
              </a:lnSpc>
              <a:spcBef>
                <a:spcPts val="615"/>
              </a:spcBef>
            </a:pPr>
            <a:r>
              <a:rPr sz="3050" dirty="0">
                <a:solidFill>
                  <a:srgbClr val="FFFFFF"/>
                </a:solidFill>
                <a:latin typeface="Poppins"/>
                <a:cs typeface="Poppins"/>
              </a:rPr>
              <a:t>ASSISTANT</a:t>
            </a:r>
            <a:r>
              <a:rPr sz="3050" spc="50" dirty="0">
                <a:solidFill>
                  <a:srgbClr val="FFFFFF"/>
                </a:solidFill>
                <a:latin typeface="Poppins"/>
                <a:cs typeface="Poppins"/>
              </a:rPr>
              <a:t> </a:t>
            </a:r>
            <a:r>
              <a:rPr sz="3050" spc="-10" dirty="0">
                <a:solidFill>
                  <a:srgbClr val="FFFFFF"/>
                </a:solidFill>
                <a:latin typeface="Poppins"/>
                <a:cs typeface="Poppins"/>
              </a:rPr>
              <a:t>PROFESSOR</a:t>
            </a:r>
            <a:endParaRPr lang="en-IN" sz="3050" spc="-10" dirty="0">
              <a:solidFill>
                <a:srgbClr val="FFFFFF"/>
              </a:solidFill>
              <a:latin typeface="Poppins"/>
              <a:cs typeface="Poppins"/>
            </a:endParaRPr>
          </a:p>
          <a:p>
            <a:pPr algn="ctr">
              <a:lnSpc>
                <a:spcPct val="100000"/>
              </a:lnSpc>
              <a:spcBef>
                <a:spcPts val="615"/>
              </a:spcBef>
            </a:pPr>
            <a:r>
              <a:rPr lang="en-IN" sz="3050" spc="-10" dirty="0">
                <a:solidFill>
                  <a:srgbClr val="FFFFFF"/>
                </a:solidFill>
                <a:latin typeface="Poppins"/>
                <a:cs typeface="Poppins"/>
              </a:rPr>
              <a:t>Dept of AIML</a:t>
            </a:r>
            <a:endParaRPr sz="3050" dirty="0">
              <a:latin typeface="Poppins"/>
              <a:cs typeface="Poppin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666307" y="385635"/>
            <a:ext cx="4984750" cy="847027"/>
          </a:xfrm>
          <a:prstGeom prst="rect">
            <a:avLst/>
          </a:prstGeom>
        </p:spPr>
        <p:txBody>
          <a:bodyPr vert="horz" wrap="square" lIns="0" tIns="15875" rIns="0" bIns="0" rtlCol="0">
            <a:spAutoFit/>
          </a:bodyPr>
          <a:lstStyle/>
          <a:p>
            <a:pPr marL="12700">
              <a:lnSpc>
                <a:spcPct val="100000"/>
              </a:lnSpc>
              <a:spcBef>
                <a:spcPts val="125"/>
              </a:spcBef>
            </a:pPr>
            <a:r>
              <a:rPr sz="5400" spc="-10" dirty="0"/>
              <a:t>ABSTRACT</a:t>
            </a:r>
            <a:endParaRPr sz="5400" dirty="0"/>
          </a:p>
        </p:txBody>
      </p:sp>
      <p:sp>
        <p:nvSpPr>
          <p:cNvPr id="3" name="object 3"/>
          <p:cNvSpPr txBox="1">
            <a:spLocks noGrp="1"/>
          </p:cNvSpPr>
          <p:nvPr>
            <p:ph type="body" idx="1"/>
          </p:nvPr>
        </p:nvSpPr>
        <p:spPr>
          <a:xfrm>
            <a:off x="1174666" y="2055952"/>
            <a:ext cx="14659610" cy="4305666"/>
          </a:xfrm>
          <a:prstGeom prst="rect">
            <a:avLst/>
          </a:prstGeom>
        </p:spPr>
        <p:txBody>
          <a:bodyPr vert="horz" wrap="square" lIns="0" tIns="12065" rIns="0" bIns="0" rtlCol="0">
            <a:spAutoFit/>
          </a:bodyPr>
          <a:lstStyle/>
          <a:p>
            <a:pPr marL="12700" marR="5080" algn="just">
              <a:spcBef>
                <a:spcPts val="95"/>
              </a:spcBef>
            </a:pPr>
            <a:r>
              <a:rPr dirty="0">
                <a:latin typeface="Times New Roman" panose="02020603050405020304" pitchFamily="18" charset="0"/>
                <a:cs typeface="Times New Roman" panose="02020603050405020304" pitchFamily="18" charset="0"/>
              </a:rPr>
              <a:t>The</a:t>
            </a:r>
            <a:r>
              <a:rPr spc="145"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rapid</a:t>
            </a:r>
            <a:r>
              <a:rPr spc="150"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spread</a:t>
            </a:r>
            <a:r>
              <a:rPr spc="150"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of</a:t>
            </a:r>
            <a:r>
              <a:rPr spc="150"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misinformation</a:t>
            </a:r>
            <a:r>
              <a:rPr spc="150"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through</a:t>
            </a:r>
            <a:r>
              <a:rPr spc="150"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digital</a:t>
            </a:r>
            <a:r>
              <a:rPr spc="150"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news</a:t>
            </a:r>
            <a:r>
              <a:rPr spc="150"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and</a:t>
            </a:r>
            <a:r>
              <a:rPr spc="150" dirty="0">
                <a:latin typeface="Times New Roman" panose="02020603050405020304" pitchFamily="18" charset="0"/>
                <a:cs typeface="Times New Roman" panose="02020603050405020304" pitchFamily="18" charset="0"/>
              </a:rPr>
              <a:t>  </a:t>
            </a:r>
            <a:r>
              <a:rPr spc="-10" dirty="0">
                <a:latin typeface="Times New Roman" panose="02020603050405020304" pitchFamily="18" charset="0"/>
                <a:cs typeface="Times New Roman" panose="02020603050405020304" pitchFamily="18" charset="0"/>
              </a:rPr>
              <a:t>social </a:t>
            </a:r>
            <a:r>
              <a:rPr dirty="0">
                <a:latin typeface="Times New Roman" panose="02020603050405020304" pitchFamily="18" charset="0"/>
                <a:cs typeface="Times New Roman" panose="02020603050405020304" pitchFamily="18" charset="0"/>
              </a:rPr>
              <a:t>media,</a:t>
            </a:r>
            <a:r>
              <a:rPr spc="20"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often</a:t>
            </a:r>
            <a:r>
              <a:rPr spc="20"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supported</a:t>
            </a:r>
            <a:r>
              <a:rPr spc="20"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by</a:t>
            </a:r>
            <a:r>
              <a:rPr spc="20"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manipulated</a:t>
            </a:r>
            <a:r>
              <a:rPr spc="20"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or</a:t>
            </a:r>
            <a:r>
              <a:rPr spc="20" dirty="0">
                <a:latin typeface="Times New Roman" panose="02020603050405020304" pitchFamily="18" charset="0"/>
                <a:cs typeface="Times New Roman" panose="02020603050405020304" pitchFamily="18" charset="0"/>
              </a:rPr>
              <a:t>  </a:t>
            </a:r>
            <a:r>
              <a:rPr spc="-10" dirty="0">
                <a:latin typeface="Times New Roman" panose="02020603050405020304" pitchFamily="18" charset="0"/>
                <a:cs typeface="Times New Roman" panose="02020603050405020304" pitchFamily="18" charset="0"/>
              </a:rPr>
              <a:t>AI-</a:t>
            </a:r>
            <a:r>
              <a:rPr dirty="0">
                <a:latin typeface="Times New Roman" panose="02020603050405020304" pitchFamily="18" charset="0"/>
                <a:cs typeface="Times New Roman" panose="02020603050405020304" pitchFamily="18" charset="0"/>
              </a:rPr>
              <a:t>generated</a:t>
            </a:r>
            <a:r>
              <a:rPr spc="20"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images,</a:t>
            </a:r>
            <a:r>
              <a:rPr spc="25" dirty="0">
                <a:latin typeface="Times New Roman" panose="02020603050405020304" pitchFamily="18" charset="0"/>
                <a:cs typeface="Times New Roman" panose="02020603050405020304" pitchFamily="18" charset="0"/>
              </a:rPr>
              <a:t>  </a:t>
            </a:r>
            <a:r>
              <a:rPr spc="-25" dirty="0">
                <a:latin typeface="Times New Roman" panose="02020603050405020304" pitchFamily="18" charset="0"/>
                <a:cs typeface="Times New Roman" panose="02020603050405020304" pitchFamily="18" charset="0"/>
              </a:rPr>
              <a:t>has </a:t>
            </a:r>
            <a:r>
              <a:rPr dirty="0">
                <a:latin typeface="Times New Roman" panose="02020603050405020304" pitchFamily="18" charset="0"/>
                <a:cs typeface="Times New Roman" panose="02020603050405020304" pitchFamily="18" charset="0"/>
              </a:rPr>
              <a:t>become</a:t>
            </a:r>
            <a:r>
              <a:rPr spc="50"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a</a:t>
            </a:r>
            <a:r>
              <a:rPr spc="50"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major</a:t>
            </a:r>
            <a:r>
              <a:rPr spc="55"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challenge.</a:t>
            </a:r>
            <a:r>
              <a:rPr spc="50"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This</a:t>
            </a:r>
            <a:r>
              <a:rPr spc="55"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project</a:t>
            </a:r>
            <a:r>
              <a:rPr spc="50"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presents</a:t>
            </a:r>
            <a:r>
              <a:rPr spc="50"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a</a:t>
            </a:r>
            <a:r>
              <a:rPr spc="55"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multimodal</a:t>
            </a:r>
            <a:r>
              <a:rPr spc="50"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fake</a:t>
            </a:r>
            <a:r>
              <a:rPr spc="55" dirty="0">
                <a:latin typeface="Times New Roman" panose="02020603050405020304" pitchFamily="18" charset="0"/>
                <a:cs typeface="Times New Roman" panose="02020603050405020304" pitchFamily="18" charset="0"/>
              </a:rPr>
              <a:t> </a:t>
            </a:r>
            <a:r>
              <a:rPr spc="-20" dirty="0">
                <a:latin typeface="Times New Roman" panose="02020603050405020304" pitchFamily="18" charset="0"/>
                <a:cs typeface="Times New Roman" panose="02020603050405020304" pitchFamily="18" charset="0"/>
              </a:rPr>
              <a:t>news </a:t>
            </a:r>
            <a:r>
              <a:rPr dirty="0">
                <a:latin typeface="Times New Roman" panose="02020603050405020304" pitchFamily="18" charset="0"/>
                <a:cs typeface="Times New Roman" panose="02020603050405020304" pitchFamily="18" charset="0"/>
              </a:rPr>
              <a:t>detection</a:t>
            </a:r>
            <a:r>
              <a:rPr spc="380"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system</a:t>
            </a:r>
            <a:r>
              <a:rPr spc="380"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that</a:t>
            </a:r>
            <a:r>
              <a:rPr spc="380"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analyzes</a:t>
            </a:r>
            <a:r>
              <a:rPr spc="380"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both</a:t>
            </a:r>
            <a:r>
              <a:rPr spc="380"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text</a:t>
            </a:r>
            <a:r>
              <a:rPr spc="380"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and</a:t>
            </a:r>
            <a:r>
              <a:rPr spc="385"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images</a:t>
            </a:r>
            <a:r>
              <a:rPr spc="380"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to</a:t>
            </a:r>
            <a:r>
              <a:rPr spc="380" dirty="0">
                <a:latin typeface="Times New Roman" panose="02020603050405020304" pitchFamily="18" charset="0"/>
                <a:cs typeface="Times New Roman" panose="02020603050405020304" pitchFamily="18" charset="0"/>
              </a:rPr>
              <a:t>  </a:t>
            </a:r>
            <a:r>
              <a:rPr spc="-10" dirty="0">
                <a:latin typeface="Times New Roman" panose="02020603050405020304" pitchFamily="18" charset="0"/>
                <a:cs typeface="Times New Roman" panose="02020603050405020304" pitchFamily="18" charset="0"/>
              </a:rPr>
              <a:t>improve </a:t>
            </a:r>
            <a:r>
              <a:rPr dirty="0">
                <a:latin typeface="Times New Roman" panose="02020603050405020304" pitchFamily="18" charset="0"/>
                <a:cs typeface="Times New Roman" panose="02020603050405020304" pitchFamily="18" charset="0"/>
              </a:rPr>
              <a:t>accuracy</a:t>
            </a:r>
            <a:r>
              <a:rPr spc="75"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and</a:t>
            </a:r>
            <a:r>
              <a:rPr spc="80"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reliability.</a:t>
            </a:r>
            <a:r>
              <a:rPr spc="75"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The</a:t>
            </a:r>
            <a:r>
              <a:rPr spc="80"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text</a:t>
            </a:r>
            <a:r>
              <a:rPr spc="75"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module</a:t>
            </a:r>
            <a:r>
              <a:rPr spc="80"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uses</a:t>
            </a:r>
            <a:r>
              <a:rPr spc="75" dirty="0">
                <a:latin typeface="Times New Roman" panose="02020603050405020304" pitchFamily="18" charset="0"/>
                <a:cs typeface="Times New Roman" panose="02020603050405020304" pitchFamily="18" charset="0"/>
              </a:rPr>
              <a:t>  </a:t>
            </a:r>
            <a:r>
              <a:rPr b="1" dirty="0">
                <a:latin typeface="Times New Roman" panose="02020603050405020304" pitchFamily="18" charset="0"/>
                <a:cs typeface="Times New Roman" panose="02020603050405020304" pitchFamily="18" charset="0"/>
              </a:rPr>
              <a:t>BERT</a:t>
            </a:r>
            <a:r>
              <a:rPr lang="en-IN" b="1" spc="80" dirty="0">
                <a:latin typeface="Times New Roman" panose="02020603050405020304" pitchFamily="18" charset="0"/>
                <a:cs typeface="Times New Roman" panose="02020603050405020304" pitchFamily="18" charset="0"/>
              </a:rPr>
              <a:t>,GRU,CNN</a:t>
            </a:r>
            <a:r>
              <a:rPr spc="80"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for</a:t>
            </a:r>
            <a:r>
              <a:rPr spc="80" dirty="0">
                <a:latin typeface="Times New Roman" panose="02020603050405020304" pitchFamily="18" charset="0"/>
                <a:cs typeface="Times New Roman" panose="02020603050405020304" pitchFamily="18" charset="0"/>
              </a:rPr>
              <a:t>  </a:t>
            </a:r>
            <a:r>
              <a:rPr spc="-10" dirty="0">
                <a:latin typeface="Times New Roman" panose="02020603050405020304" pitchFamily="18" charset="0"/>
                <a:cs typeface="Times New Roman" panose="02020603050405020304" pitchFamily="18" charset="0"/>
              </a:rPr>
              <a:t>classification, </a:t>
            </a:r>
            <a:r>
              <a:rPr dirty="0">
                <a:latin typeface="Times New Roman" panose="02020603050405020304" pitchFamily="18" charset="0"/>
                <a:cs typeface="Times New Roman" panose="02020603050405020304" pitchFamily="18" charset="0"/>
              </a:rPr>
              <a:t>while</a:t>
            </a:r>
            <a:r>
              <a:rPr spc="545"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the</a:t>
            </a:r>
            <a:r>
              <a:rPr spc="550"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image</a:t>
            </a:r>
            <a:r>
              <a:rPr spc="550"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module</a:t>
            </a:r>
            <a:r>
              <a:rPr spc="550"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applies</a:t>
            </a:r>
            <a:r>
              <a:rPr spc="550"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deep</a:t>
            </a:r>
            <a:r>
              <a:rPr spc="550"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learning</a:t>
            </a:r>
            <a:r>
              <a:rPr spc="545"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models</a:t>
            </a:r>
            <a:r>
              <a:rPr spc="550"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such</a:t>
            </a:r>
            <a:r>
              <a:rPr spc="550"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as</a:t>
            </a:r>
            <a:r>
              <a:rPr spc="550" dirty="0">
                <a:latin typeface="Times New Roman" panose="02020603050405020304" pitchFamily="18" charset="0"/>
                <a:cs typeface="Times New Roman" panose="02020603050405020304" pitchFamily="18" charset="0"/>
              </a:rPr>
              <a:t> </a:t>
            </a:r>
            <a:r>
              <a:rPr lang="en-IN" b="1" spc="-10" dirty="0" err="1">
                <a:latin typeface="Times New Roman" panose="02020603050405020304" pitchFamily="18" charset="0"/>
                <a:cs typeface="Times New Roman" panose="02020603050405020304" pitchFamily="18" charset="0"/>
              </a:rPr>
              <a:t>ResNet</a:t>
            </a:r>
            <a:r>
              <a:rPr spc="-10"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and</a:t>
            </a:r>
            <a:r>
              <a:rPr spc="590" dirty="0">
                <a:latin typeface="Times New Roman" panose="02020603050405020304" pitchFamily="18" charset="0"/>
                <a:cs typeface="Times New Roman" panose="02020603050405020304" pitchFamily="18" charset="0"/>
              </a:rPr>
              <a:t>  </a:t>
            </a:r>
            <a:r>
              <a:rPr b="1" dirty="0">
                <a:latin typeface="Times New Roman" panose="02020603050405020304" pitchFamily="18" charset="0"/>
                <a:cs typeface="Times New Roman" panose="02020603050405020304" pitchFamily="18" charset="0"/>
              </a:rPr>
              <a:t>EfficientNet</a:t>
            </a:r>
            <a:r>
              <a:rPr spc="590"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to</a:t>
            </a:r>
            <a:r>
              <a:rPr spc="590"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detect</a:t>
            </a:r>
            <a:r>
              <a:rPr spc="590"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manipulated</a:t>
            </a:r>
            <a:r>
              <a:rPr spc="590"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content.</a:t>
            </a:r>
            <a:r>
              <a:rPr spc="595"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Unlike</a:t>
            </a:r>
            <a:r>
              <a:rPr spc="590" dirty="0">
                <a:latin typeface="Times New Roman" panose="02020603050405020304" pitchFamily="18" charset="0"/>
                <a:cs typeface="Times New Roman" panose="02020603050405020304" pitchFamily="18" charset="0"/>
              </a:rPr>
              <a:t>  </a:t>
            </a:r>
            <a:r>
              <a:rPr spc="-10" dirty="0">
                <a:latin typeface="Times New Roman" panose="02020603050405020304" pitchFamily="18" charset="0"/>
                <a:cs typeface="Times New Roman" panose="02020603050405020304" pitchFamily="18" charset="0"/>
              </a:rPr>
              <a:t>traditional </a:t>
            </a:r>
            <a:r>
              <a:rPr dirty="0">
                <a:latin typeface="Times New Roman" panose="02020603050405020304" pitchFamily="18" charset="0"/>
                <a:cs typeface="Times New Roman" panose="02020603050405020304" pitchFamily="18" charset="0"/>
              </a:rPr>
              <a:t>methods,</a:t>
            </a:r>
            <a:r>
              <a:rPr spc="509"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the</a:t>
            </a:r>
            <a:r>
              <a:rPr spc="515"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system</a:t>
            </a:r>
            <a:r>
              <a:rPr spc="515"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provides</a:t>
            </a:r>
            <a:r>
              <a:rPr spc="515"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separate</a:t>
            </a:r>
            <a:r>
              <a:rPr spc="509"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predictions</a:t>
            </a:r>
            <a:r>
              <a:rPr spc="515"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for</a:t>
            </a:r>
            <a:r>
              <a:rPr spc="515"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text</a:t>
            </a:r>
            <a:r>
              <a:rPr spc="515"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and</a:t>
            </a:r>
            <a:r>
              <a:rPr spc="515" dirty="0">
                <a:latin typeface="Times New Roman" panose="02020603050405020304" pitchFamily="18" charset="0"/>
                <a:cs typeface="Times New Roman" panose="02020603050405020304" pitchFamily="18" charset="0"/>
              </a:rPr>
              <a:t> </a:t>
            </a:r>
            <a:r>
              <a:rPr spc="-10" dirty="0">
                <a:latin typeface="Times New Roman" panose="02020603050405020304" pitchFamily="18" charset="0"/>
                <a:cs typeface="Times New Roman" panose="02020603050405020304" pitchFamily="18" charset="0"/>
              </a:rPr>
              <a:t>image, </a:t>
            </a:r>
            <a:r>
              <a:rPr dirty="0">
                <a:latin typeface="Times New Roman" panose="02020603050405020304" pitchFamily="18" charset="0"/>
                <a:cs typeface="Times New Roman" panose="02020603050405020304" pitchFamily="18" charset="0"/>
              </a:rPr>
              <a:t>helping</a:t>
            </a:r>
            <a:r>
              <a:rPr spc="420"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identify</a:t>
            </a:r>
            <a:r>
              <a:rPr spc="425"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the</a:t>
            </a:r>
            <a:r>
              <a:rPr spc="425"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source</a:t>
            </a:r>
            <a:r>
              <a:rPr spc="425"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of</a:t>
            </a:r>
            <a:r>
              <a:rPr spc="425"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misinformation</a:t>
            </a:r>
            <a:r>
              <a:rPr spc="425"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and</a:t>
            </a:r>
            <a:r>
              <a:rPr spc="420" dirty="0">
                <a:latin typeface="Times New Roman" panose="02020603050405020304" pitchFamily="18" charset="0"/>
                <a:cs typeface="Times New Roman" panose="02020603050405020304" pitchFamily="18" charset="0"/>
              </a:rPr>
              <a:t>   </a:t>
            </a:r>
            <a:r>
              <a:rPr spc="-10" dirty="0">
                <a:latin typeface="Times New Roman" panose="02020603050405020304" pitchFamily="18" charset="0"/>
                <a:cs typeface="Times New Roman" panose="02020603050405020304" pitchFamily="18" charset="0"/>
              </a:rPr>
              <a:t>enhancing </a:t>
            </a:r>
            <a:r>
              <a:rPr dirty="0">
                <a:latin typeface="Times New Roman" panose="02020603050405020304" pitchFamily="18" charset="0"/>
                <a:cs typeface="Times New Roman" panose="02020603050405020304" pitchFamily="18" charset="0"/>
              </a:rPr>
              <a:t>transparency,</a:t>
            </a:r>
            <a:r>
              <a:rPr spc="-10"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accuracy,</a:t>
            </a:r>
            <a:r>
              <a:rPr spc="-5"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and</a:t>
            </a:r>
            <a:r>
              <a:rPr spc="-5"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reliability</a:t>
            </a:r>
            <a:r>
              <a:rPr spc="-5"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in</a:t>
            </a:r>
            <a:r>
              <a:rPr spc="-5"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fake</a:t>
            </a:r>
            <a:r>
              <a:rPr spc="-5"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news</a:t>
            </a:r>
            <a:r>
              <a:rPr spc="-5" dirty="0">
                <a:latin typeface="Times New Roman" panose="02020603050405020304" pitchFamily="18" charset="0"/>
                <a:cs typeface="Times New Roman" panose="02020603050405020304" pitchFamily="18" charset="0"/>
              </a:rPr>
              <a:t> </a:t>
            </a:r>
            <a:r>
              <a:rPr spc="-10" dirty="0">
                <a:latin typeface="Times New Roman" panose="02020603050405020304" pitchFamily="18" charset="0"/>
                <a:cs typeface="Times New Roman" panose="02020603050405020304" pitchFamily="18" charset="0"/>
              </a:rPr>
              <a:t>detection.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543337-EDC0-0568-A15E-07E9833F54DA}"/>
              </a:ext>
            </a:extLst>
          </p:cNvPr>
          <p:cNvSpPr>
            <a:spLocks noGrp="1"/>
          </p:cNvSpPr>
          <p:nvPr>
            <p:ph type="title"/>
          </p:nvPr>
        </p:nvSpPr>
        <p:spPr>
          <a:xfrm>
            <a:off x="304800" y="190501"/>
            <a:ext cx="14322204" cy="730969"/>
          </a:xfrm>
        </p:spPr>
        <p:txBody>
          <a:bodyPr/>
          <a:lstStyle/>
          <a:p>
            <a:r>
              <a:rPr lang="en-IN" dirty="0"/>
              <a:t>SCOPE OF THE PROJECT</a:t>
            </a:r>
          </a:p>
        </p:txBody>
      </p:sp>
      <p:sp>
        <p:nvSpPr>
          <p:cNvPr id="3" name="Text Placeholder 2">
            <a:extLst>
              <a:ext uri="{FF2B5EF4-FFF2-40B4-BE49-F238E27FC236}">
                <a16:creationId xmlns:a16="http://schemas.microsoft.com/office/drawing/2014/main" id="{A49C7EE8-8E7C-2D1A-46B6-731C782BB433}"/>
              </a:ext>
            </a:extLst>
          </p:cNvPr>
          <p:cNvSpPr>
            <a:spLocks noGrp="1"/>
          </p:cNvSpPr>
          <p:nvPr>
            <p:ph type="body" idx="1"/>
          </p:nvPr>
        </p:nvSpPr>
        <p:spPr>
          <a:xfrm>
            <a:off x="838200" y="1257300"/>
            <a:ext cx="14996076" cy="7632859"/>
          </a:xfrm>
        </p:spPr>
        <p:txBody>
          <a:bodyPr/>
          <a:lstStyle/>
          <a:p>
            <a:pPr marL="285750" indent="-285750" algn="just">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Detecting fake news articles using text analysis techniques.</a:t>
            </a: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Identifying AI-generated or fake images associated with news content.</a:t>
            </a: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Detecting morphed or manipulated images used with real or fake news.</a:t>
            </a: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Classifying the following scenarios:</a:t>
            </a:r>
          </a:p>
          <a:p>
            <a:pPr algn="just"/>
            <a:r>
              <a:rPr lang="en-US" dirty="0">
                <a:latin typeface="Times New Roman" panose="02020603050405020304" pitchFamily="18" charset="0"/>
                <a:cs typeface="Times New Roman" panose="02020603050405020304" pitchFamily="18" charset="0"/>
              </a:rPr>
              <a:t>         Real News with Real Images</a:t>
            </a:r>
          </a:p>
          <a:p>
            <a:pPr algn="just"/>
            <a:r>
              <a:rPr lang="en-US" dirty="0">
                <a:latin typeface="Times New Roman" panose="02020603050405020304" pitchFamily="18" charset="0"/>
                <a:cs typeface="Times New Roman" panose="02020603050405020304" pitchFamily="18" charset="0"/>
              </a:rPr>
              <a:t>         Fake News with Real Images</a:t>
            </a:r>
          </a:p>
          <a:p>
            <a:pPr algn="just"/>
            <a:r>
              <a:rPr lang="en-US" dirty="0">
                <a:latin typeface="Times New Roman" panose="02020603050405020304" pitchFamily="18" charset="0"/>
                <a:cs typeface="Times New Roman" panose="02020603050405020304" pitchFamily="18" charset="0"/>
              </a:rPr>
              <a:t>         Real News with Fake / AI-Generated Images</a:t>
            </a:r>
          </a:p>
          <a:p>
            <a:pPr algn="just"/>
            <a:r>
              <a:rPr lang="en-US" dirty="0">
                <a:latin typeface="Times New Roman" panose="02020603050405020304" pitchFamily="18" charset="0"/>
                <a:cs typeface="Times New Roman" panose="02020603050405020304" pitchFamily="18" charset="0"/>
              </a:rPr>
              <a:t>         Fake News with Fake Images</a:t>
            </a: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Providing separate results for text and image authenticity to improve transparency.</a:t>
            </a: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Helping users understand whether misinformation originates from text, image, or both.</a:t>
            </a: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This project is applicable to social media platforms, news agencies, fact-checking systems, and digital forensics.</a:t>
            </a:r>
          </a:p>
          <a:p>
            <a:pPr marL="285750" indent="-285750" algn="just">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endParaRPr lang="en-IN" dirty="0">
              <a:latin typeface="Times New Roman" panose="02020603050405020304" pitchFamily="18" charset="0"/>
              <a:cs typeface="Times New Roman" panose="02020603050405020304" pitchFamily="18" charset="0"/>
            </a:endParaRPr>
          </a:p>
          <a:p>
            <a:pPr algn="just"/>
            <a:endParaRPr lang="en-IN" dirty="0"/>
          </a:p>
        </p:txBody>
      </p:sp>
    </p:spTree>
    <p:extLst>
      <p:ext uri="{BB962C8B-B14F-4D97-AF65-F5344CB8AC3E}">
        <p14:creationId xmlns:p14="http://schemas.microsoft.com/office/powerpoint/2010/main" val="28642663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97B158-9E18-5393-F77D-4EF9612CE511}"/>
              </a:ext>
            </a:extLst>
          </p:cNvPr>
          <p:cNvSpPr>
            <a:spLocks noGrp="1"/>
          </p:cNvSpPr>
          <p:nvPr>
            <p:ph type="title"/>
          </p:nvPr>
        </p:nvSpPr>
        <p:spPr>
          <a:xfrm>
            <a:off x="457200" y="419101"/>
            <a:ext cx="12614910" cy="830997"/>
          </a:xfrm>
        </p:spPr>
        <p:txBody>
          <a:bodyPr/>
          <a:lstStyle/>
          <a:p>
            <a:r>
              <a:rPr lang="en-IN" sz="5400" dirty="0"/>
              <a:t>EXISTING SYSTEM</a:t>
            </a:r>
          </a:p>
        </p:txBody>
      </p:sp>
      <p:sp>
        <p:nvSpPr>
          <p:cNvPr id="3" name="Text Placeholder 2">
            <a:extLst>
              <a:ext uri="{FF2B5EF4-FFF2-40B4-BE49-F238E27FC236}">
                <a16:creationId xmlns:a16="http://schemas.microsoft.com/office/drawing/2014/main" id="{5EF20664-94DE-E421-B573-71C982B444CF}"/>
              </a:ext>
            </a:extLst>
          </p:cNvPr>
          <p:cNvSpPr>
            <a:spLocks noGrp="1"/>
          </p:cNvSpPr>
          <p:nvPr>
            <p:ph type="body" idx="1"/>
          </p:nvPr>
        </p:nvSpPr>
        <p:spPr>
          <a:xfrm>
            <a:off x="762000" y="2247901"/>
            <a:ext cx="16002000" cy="5247590"/>
          </a:xfrm>
        </p:spPr>
        <p:txBody>
          <a:bodyPr/>
          <a:lstStyle/>
          <a:p>
            <a:pPr marL="514350" indent="-5143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existing system is used to detect fake news available on the internet.</a:t>
            </a:r>
          </a:p>
          <a:p>
            <a:pPr marL="514350" indent="-5143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It mainly analyzes the text content of news articles and posts.</a:t>
            </a:r>
          </a:p>
          <a:p>
            <a:pPr marL="514350" indent="-5143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Natural Language Processing (NLP) techniques are applied to understand the text.</a:t>
            </a:r>
          </a:p>
          <a:p>
            <a:pPr marL="514350" indent="-5143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Machine learning and deep learning algorithms are trained on real and fake news datasets.</a:t>
            </a:r>
          </a:p>
          <a:p>
            <a:pPr marL="514350" indent="-5143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system checks </a:t>
            </a:r>
            <a:r>
              <a:rPr lang="en-US" b="1" dirty="0">
                <a:latin typeface="Times New Roman" panose="02020603050405020304" pitchFamily="18" charset="0"/>
                <a:cs typeface="Times New Roman" panose="02020603050405020304" pitchFamily="18" charset="0"/>
              </a:rPr>
              <a:t>keywords,</a:t>
            </a: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sentence structure</a:t>
            </a:r>
            <a:r>
              <a:rPr lang="en-US" dirty="0">
                <a:latin typeface="Times New Roman" panose="02020603050405020304" pitchFamily="18" charset="0"/>
                <a:cs typeface="Times New Roman" panose="02020603050405020304" pitchFamily="18" charset="0"/>
              </a:rPr>
              <a:t>, and </a:t>
            </a:r>
            <a:r>
              <a:rPr lang="en-US" b="1" dirty="0">
                <a:latin typeface="Times New Roman" panose="02020603050405020304" pitchFamily="18" charset="0"/>
                <a:cs typeface="Times New Roman" panose="02020603050405020304" pitchFamily="18" charset="0"/>
              </a:rPr>
              <a:t>writing patterns</a:t>
            </a:r>
            <a:r>
              <a:rPr lang="en-US" dirty="0">
                <a:latin typeface="Times New Roman" panose="02020603050405020304" pitchFamily="18" charset="0"/>
                <a:cs typeface="Times New Roman" panose="02020603050405020304" pitchFamily="18" charset="0"/>
              </a:rPr>
              <a:t>.</a:t>
            </a:r>
          </a:p>
          <a:p>
            <a:pPr marL="514350" indent="-5143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Some systems also consider basic image features along with text.</a:t>
            </a:r>
          </a:p>
          <a:p>
            <a:pPr marL="514350" indent="-5143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Text and image data are usually processed together.</a:t>
            </a:r>
          </a:p>
          <a:p>
            <a:pPr marL="514350" indent="-5143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 single output is generated to classify news as real or fake.</a:t>
            </a:r>
          </a:p>
          <a:p>
            <a:pPr marL="514350" indent="-5143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These systems help reduce the spread of misleading information online.</a:t>
            </a:r>
          </a:p>
          <a:p>
            <a:pPr marL="514350" indent="-5143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Existing systems are commonly used in news portals and social media platforms.</a:t>
            </a: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239922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DB60C1-60F9-4BF7-EC08-1E08B9B7A2A3}"/>
              </a:ext>
            </a:extLst>
          </p:cNvPr>
          <p:cNvSpPr>
            <a:spLocks noGrp="1"/>
          </p:cNvSpPr>
          <p:nvPr>
            <p:ph type="title"/>
          </p:nvPr>
        </p:nvSpPr>
        <p:spPr>
          <a:xfrm>
            <a:off x="304800" y="102898"/>
            <a:ext cx="14398404" cy="738664"/>
          </a:xfrm>
        </p:spPr>
        <p:txBody>
          <a:bodyPr/>
          <a:lstStyle/>
          <a:p>
            <a:r>
              <a:rPr lang="en-IN" sz="4800" b="1" dirty="0">
                <a:latin typeface="Times New Roman" panose="02020603050405020304" pitchFamily="18" charset="0"/>
                <a:cs typeface="Times New Roman" panose="02020603050405020304" pitchFamily="18" charset="0"/>
              </a:rPr>
              <a:t>LIMITATIONS OF EXISTING SYSTEM</a:t>
            </a:r>
            <a:endParaRPr lang="en-IN" dirty="0"/>
          </a:p>
        </p:txBody>
      </p:sp>
      <p:sp>
        <p:nvSpPr>
          <p:cNvPr id="3" name="Text Placeholder 2">
            <a:extLst>
              <a:ext uri="{FF2B5EF4-FFF2-40B4-BE49-F238E27FC236}">
                <a16:creationId xmlns:a16="http://schemas.microsoft.com/office/drawing/2014/main" id="{E725FF95-AAD8-0A17-0F42-27BE57C6B2DF}"/>
              </a:ext>
            </a:extLst>
          </p:cNvPr>
          <p:cNvSpPr>
            <a:spLocks noGrp="1"/>
          </p:cNvSpPr>
          <p:nvPr>
            <p:ph type="body" idx="1"/>
          </p:nvPr>
        </p:nvSpPr>
        <p:spPr>
          <a:xfrm>
            <a:off x="685800" y="1638300"/>
            <a:ext cx="15148476" cy="6678751"/>
          </a:xfrm>
        </p:spPr>
        <p:txBody>
          <a:bodyPr/>
          <a:lstStyle/>
          <a:p>
            <a:pPr marL="285750" indent="-285750" algn="just">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Unimodal Architecture</a:t>
            </a:r>
            <a:r>
              <a:rPr lang="en-US" dirty="0">
                <a:latin typeface="Times New Roman" panose="02020603050405020304" pitchFamily="18" charset="0"/>
                <a:cs typeface="Times New Roman" panose="02020603050405020304" pitchFamily="18" charset="0"/>
              </a:rPr>
              <a:t> – Primarily text-focused; ignores cross-modal inconsistencies between text and images.</a:t>
            </a:r>
          </a:p>
          <a:p>
            <a:pPr marL="285750" indent="-285750" algn="just">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Limited Image Forensics</a:t>
            </a:r>
            <a:r>
              <a:rPr lang="en-US" dirty="0">
                <a:latin typeface="Times New Roman" panose="02020603050405020304" pitchFamily="18" charset="0"/>
                <a:cs typeface="Times New Roman" panose="02020603050405020304" pitchFamily="18" charset="0"/>
              </a:rPr>
              <a:t> – Uses shallow or basic image features; fails to detect AI-generated artifacts and manipulation patterns.</a:t>
            </a:r>
          </a:p>
          <a:p>
            <a:pPr marL="285750" indent="-285750" algn="just">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Shallow Context Modeling</a:t>
            </a:r>
            <a:r>
              <a:rPr lang="en-US" dirty="0">
                <a:latin typeface="Times New Roman" panose="02020603050405020304" pitchFamily="18" charset="0"/>
                <a:cs typeface="Times New Roman" panose="02020603050405020304" pitchFamily="18" charset="0"/>
              </a:rPr>
              <a:t> – Traditional ML models cannot capture long-range semantic dependencies or subtle linguistic deception.</a:t>
            </a:r>
          </a:p>
          <a:p>
            <a:pPr marL="285750" indent="-285750" algn="just">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Black-Box Output</a:t>
            </a:r>
            <a:r>
              <a:rPr lang="en-US" dirty="0">
                <a:latin typeface="Times New Roman" panose="02020603050405020304" pitchFamily="18" charset="0"/>
                <a:cs typeface="Times New Roman" panose="02020603050405020304" pitchFamily="18" charset="0"/>
              </a:rPr>
              <a:t> – Produces a single combined prediction without identifying whether misinformation originates from text or image.</a:t>
            </a:r>
          </a:p>
          <a:p>
            <a:pPr marL="285750" indent="-285750" algn="just">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Low Interpretability</a:t>
            </a:r>
            <a:r>
              <a:rPr lang="en-US" dirty="0">
                <a:latin typeface="Times New Roman" panose="02020603050405020304" pitchFamily="18" charset="0"/>
                <a:cs typeface="Times New Roman" panose="02020603050405020304" pitchFamily="18" charset="0"/>
              </a:rPr>
              <a:t> – No independent confidence scores; difficult to justify decisions.</a:t>
            </a:r>
          </a:p>
          <a:p>
            <a:pPr marL="285750" indent="-285750" algn="just">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Moderate Accuracy</a:t>
            </a:r>
            <a:r>
              <a:rPr lang="en-US" dirty="0">
                <a:latin typeface="Times New Roman" panose="02020603050405020304" pitchFamily="18" charset="0"/>
                <a:cs typeface="Times New Roman" panose="02020603050405020304" pitchFamily="18" charset="0"/>
              </a:rPr>
              <a:t> – Performance degrades on multimodal or AI-generated content.</a:t>
            </a:r>
          </a:p>
          <a:p>
            <a:pPr marL="285750" indent="-285750" algn="just">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Poor Scalability</a:t>
            </a:r>
            <a:r>
              <a:rPr lang="en-US" dirty="0">
                <a:latin typeface="Times New Roman" panose="02020603050405020304" pitchFamily="18" charset="0"/>
                <a:cs typeface="Times New Roman" panose="02020603050405020304" pitchFamily="18" charset="0"/>
              </a:rPr>
              <a:t> – Not optimized for handling heterogeneous real-world social media data.</a:t>
            </a:r>
          </a:p>
          <a:p>
            <a:pPr marL="285750" indent="-285750" algn="just">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Limited Practical Applicability</a:t>
            </a:r>
            <a:r>
              <a:rPr lang="en-US" dirty="0">
                <a:latin typeface="Times New Roman" panose="02020603050405020304" pitchFamily="18" charset="0"/>
                <a:cs typeface="Times New Roman" panose="02020603050405020304" pitchFamily="18" charset="0"/>
              </a:rPr>
              <a:t> – Cannot support digital forensics or fine-grained misinformation source analysis.</a:t>
            </a:r>
          </a:p>
          <a:p>
            <a:endParaRPr lang="en-IN" dirty="0"/>
          </a:p>
        </p:txBody>
      </p:sp>
    </p:spTree>
    <p:extLst>
      <p:ext uri="{BB962C8B-B14F-4D97-AF65-F5344CB8AC3E}">
        <p14:creationId xmlns:p14="http://schemas.microsoft.com/office/powerpoint/2010/main" val="349723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FE4CA8-44B3-A41D-E90C-8E1FA3CBD880}"/>
              </a:ext>
            </a:extLst>
          </p:cNvPr>
          <p:cNvSpPr>
            <a:spLocks noGrp="1"/>
          </p:cNvSpPr>
          <p:nvPr>
            <p:ph type="title"/>
          </p:nvPr>
        </p:nvSpPr>
        <p:spPr>
          <a:xfrm>
            <a:off x="533400" y="266701"/>
            <a:ext cx="14093604" cy="830997"/>
          </a:xfrm>
        </p:spPr>
        <p:txBody>
          <a:bodyPr/>
          <a:lstStyle/>
          <a:p>
            <a:r>
              <a:rPr lang="en-IN" sz="5400" dirty="0"/>
              <a:t>PROPOSED SYSTEM</a:t>
            </a:r>
          </a:p>
        </p:txBody>
      </p:sp>
      <p:sp>
        <p:nvSpPr>
          <p:cNvPr id="3" name="Text Placeholder 2">
            <a:extLst>
              <a:ext uri="{FF2B5EF4-FFF2-40B4-BE49-F238E27FC236}">
                <a16:creationId xmlns:a16="http://schemas.microsoft.com/office/drawing/2014/main" id="{8BDF01E4-697D-77BE-374E-E8ED2A563AAD}"/>
              </a:ext>
            </a:extLst>
          </p:cNvPr>
          <p:cNvSpPr>
            <a:spLocks noGrp="1"/>
          </p:cNvSpPr>
          <p:nvPr>
            <p:ph type="body" idx="1"/>
          </p:nvPr>
        </p:nvSpPr>
        <p:spPr>
          <a:xfrm>
            <a:off x="1066800" y="2019300"/>
            <a:ext cx="14782800" cy="5724644"/>
          </a:xfrm>
        </p:spPr>
        <p:txBody>
          <a:bodyPr/>
          <a:lstStyle/>
          <a:p>
            <a:pPr marL="285750" marR="0" lvl="0" indent="-285750" algn="just" defTabSz="914400" rtl="0" eaLnBrk="0" fontAlgn="base" latinLnBrk="0" hangingPunct="0">
              <a:spcBef>
                <a:spcPct val="0"/>
              </a:spcBef>
              <a:spcAft>
                <a:spcPct val="0"/>
              </a:spcAft>
              <a:buClrTx/>
              <a:buSzTx/>
              <a:buFont typeface="Arial" panose="020B0604020202020204" pitchFamily="34" charset="0"/>
              <a:buChar char="•"/>
              <a:tabLst/>
            </a:pPr>
            <a:r>
              <a:rPr lang="en-US" altLang="en-US" dirty="0">
                <a:latin typeface="Times New Roman" panose="02020603050405020304" pitchFamily="18" charset="0"/>
                <a:cs typeface="Times New Roman" panose="02020603050405020304" pitchFamily="18" charset="0"/>
              </a:rPr>
              <a:t>The proposed system detects fake news using </a:t>
            </a:r>
            <a:r>
              <a:rPr lang="en-US" altLang="en-US" b="1" dirty="0">
                <a:latin typeface="Times New Roman" panose="02020603050405020304" pitchFamily="18" charset="0"/>
                <a:cs typeface="Times New Roman" panose="02020603050405020304" pitchFamily="18" charset="0"/>
              </a:rPr>
              <a:t>both text and image analysis</a:t>
            </a:r>
            <a:r>
              <a:rPr lang="en-US" altLang="en-US" dirty="0">
                <a:latin typeface="Times New Roman" panose="02020603050405020304" pitchFamily="18" charset="0"/>
                <a:cs typeface="Times New Roman" panose="02020603050405020304" pitchFamily="18" charset="0"/>
              </a:rPr>
              <a:t>.</a:t>
            </a:r>
          </a:p>
          <a:p>
            <a:pPr marL="285750" marR="0" lvl="0" indent="-285750" algn="just" defTabSz="914400" rtl="0" eaLnBrk="0" fontAlgn="base" latinLnBrk="0" hangingPunct="0">
              <a:spcBef>
                <a:spcPct val="0"/>
              </a:spcBef>
              <a:spcAft>
                <a:spcPct val="0"/>
              </a:spcAft>
              <a:buClrTx/>
              <a:buSzTx/>
              <a:buFont typeface="Arial" panose="020B0604020202020204" pitchFamily="34" charset="0"/>
              <a:buChar char="•"/>
              <a:tabLst/>
            </a:pPr>
            <a:r>
              <a:rPr lang="en-US" altLang="en-US" dirty="0">
                <a:latin typeface="Times New Roman" panose="02020603050405020304" pitchFamily="18" charset="0"/>
                <a:cs typeface="Times New Roman" panose="02020603050405020304" pitchFamily="18" charset="0"/>
              </a:rPr>
              <a:t>It uses </a:t>
            </a:r>
            <a:r>
              <a:rPr lang="en-US" altLang="en-US" b="1" dirty="0">
                <a:latin typeface="Times New Roman" panose="02020603050405020304" pitchFamily="18" charset="0"/>
                <a:cs typeface="Times New Roman" panose="02020603050405020304" pitchFamily="18" charset="0"/>
              </a:rPr>
              <a:t>Natural Language Processing (NLP)</a:t>
            </a:r>
            <a:r>
              <a:rPr lang="en-US" altLang="en-US" dirty="0">
                <a:latin typeface="Times New Roman" panose="02020603050405020304" pitchFamily="18" charset="0"/>
                <a:cs typeface="Times New Roman" panose="02020603050405020304" pitchFamily="18" charset="0"/>
              </a:rPr>
              <a:t> techniques to analyze news text.</a:t>
            </a:r>
          </a:p>
          <a:p>
            <a:pPr marL="285750" marR="0" lvl="0" indent="-285750" algn="just" defTabSz="914400" rtl="0" eaLnBrk="0" fontAlgn="base" latinLnBrk="0" hangingPunct="0">
              <a:spcBef>
                <a:spcPct val="0"/>
              </a:spcBef>
              <a:spcAft>
                <a:spcPct val="0"/>
              </a:spcAft>
              <a:buClrTx/>
              <a:buSzTx/>
              <a:buFont typeface="Arial" panose="020B0604020202020204" pitchFamily="34" charset="0"/>
              <a:buChar char="•"/>
              <a:tabLst/>
            </a:pPr>
            <a:r>
              <a:rPr lang="en-US" altLang="en-US" dirty="0">
                <a:latin typeface="Times New Roman" panose="02020603050405020304" pitchFamily="18" charset="0"/>
                <a:cs typeface="Times New Roman" panose="02020603050405020304" pitchFamily="18" charset="0"/>
              </a:rPr>
              <a:t>Deep learning models are applied to classify news as </a:t>
            </a:r>
            <a:r>
              <a:rPr lang="en-US" altLang="en-US" b="1" dirty="0">
                <a:latin typeface="Times New Roman" panose="02020603050405020304" pitchFamily="18" charset="0"/>
                <a:cs typeface="Times New Roman" panose="02020603050405020304" pitchFamily="18" charset="0"/>
              </a:rPr>
              <a:t>real or fake</a:t>
            </a:r>
            <a:r>
              <a:rPr lang="en-US" altLang="en-US" dirty="0">
                <a:latin typeface="Times New Roman" panose="02020603050405020304" pitchFamily="18" charset="0"/>
                <a:cs typeface="Times New Roman" panose="02020603050405020304" pitchFamily="18" charset="0"/>
              </a:rPr>
              <a:t>.</a:t>
            </a:r>
          </a:p>
          <a:p>
            <a:pPr marL="285750" marR="0" lvl="0" indent="-285750" algn="just" defTabSz="914400" rtl="0" eaLnBrk="0" fontAlgn="base" latinLnBrk="0" hangingPunct="0">
              <a:spcBef>
                <a:spcPct val="0"/>
              </a:spcBef>
              <a:spcAft>
                <a:spcPct val="0"/>
              </a:spcAft>
              <a:buClrTx/>
              <a:buSzTx/>
              <a:buFont typeface="Arial" panose="020B0604020202020204" pitchFamily="34" charset="0"/>
              <a:buChar char="•"/>
              <a:tabLst/>
            </a:pPr>
            <a:r>
              <a:rPr lang="en-US" altLang="en-US" dirty="0">
                <a:latin typeface="Times New Roman" panose="02020603050405020304" pitchFamily="18" charset="0"/>
                <a:cs typeface="Times New Roman" panose="02020603050405020304" pitchFamily="18" charset="0"/>
              </a:rPr>
              <a:t>The system also analyzes images to detect </a:t>
            </a:r>
            <a:r>
              <a:rPr lang="en-US" altLang="en-US" b="1" dirty="0">
                <a:latin typeface="Times New Roman" panose="02020603050405020304" pitchFamily="18" charset="0"/>
                <a:cs typeface="Times New Roman" panose="02020603050405020304" pitchFamily="18" charset="0"/>
              </a:rPr>
              <a:t>AI-generated, fake, or manipulated images</a:t>
            </a:r>
            <a:r>
              <a:rPr lang="en-US" altLang="en-US" dirty="0">
                <a:latin typeface="Times New Roman" panose="02020603050405020304" pitchFamily="18" charset="0"/>
                <a:cs typeface="Times New Roman" panose="02020603050405020304" pitchFamily="18" charset="0"/>
              </a:rPr>
              <a:t>.</a:t>
            </a:r>
          </a:p>
          <a:p>
            <a:pPr marL="285750" marR="0" lvl="0" indent="-285750" algn="just" defTabSz="914400" rtl="0" eaLnBrk="0" fontAlgn="base" latinLnBrk="0" hangingPunct="0">
              <a:spcBef>
                <a:spcPct val="0"/>
              </a:spcBef>
              <a:spcAft>
                <a:spcPct val="0"/>
              </a:spcAft>
              <a:buClrTx/>
              <a:buSzTx/>
              <a:buFont typeface="Arial" panose="020B0604020202020204" pitchFamily="34" charset="0"/>
              <a:buChar char="•"/>
              <a:tabLst/>
            </a:pPr>
            <a:r>
              <a:rPr lang="en-US" altLang="en-US" dirty="0">
                <a:latin typeface="Times New Roman" panose="02020603050405020304" pitchFamily="18" charset="0"/>
                <a:cs typeface="Times New Roman" panose="02020603050405020304" pitchFamily="18" charset="0"/>
              </a:rPr>
              <a:t>Text and image are processed through </a:t>
            </a:r>
            <a:r>
              <a:rPr lang="en-US" altLang="en-US" b="1" dirty="0">
                <a:latin typeface="Times New Roman" panose="02020603050405020304" pitchFamily="18" charset="0"/>
                <a:cs typeface="Times New Roman" panose="02020603050405020304" pitchFamily="18" charset="0"/>
              </a:rPr>
              <a:t>separate modules</a:t>
            </a:r>
            <a:r>
              <a:rPr lang="en-US" altLang="en-US" dirty="0">
                <a:latin typeface="Times New Roman" panose="02020603050405020304" pitchFamily="18" charset="0"/>
                <a:cs typeface="Times New Roman" panose="02020603050405020304" pitchFamily="18" charset="0"/>
              </a:rPr>
              <a:t>.</a:t>
            </a:r>
          </a:p>
          <a:p>
            <a:pPr marL="285750" marR="0" lvl="0" indent="-285750" algn="just" defTabSz="914400" rtl="0" eaLnBrk="0" fontAlgn="base" latinLnBrk="0" hangingPunct="0">
              <a:spcBef>
                <a:spcPct val="0"/>
              </a:spcBef>
              <a:spcAft>
                <a:spcPct val="0"/>
              </a:spcAft>
              <a:buClrTx/>
              <a:buSzTx/>
              <a:buFont typeface="Arial" panose="020B0604020202020204" pitchFamily="34" charset="0"/>
              <a:buChar char="•"/>
              <a:tabLst/>
            </a:pPr>
            <a:r>
              <a:rPr lang="en-US" altLang="en-US" dirty="0">
                <a:latin typeface="Times New Roman" panose="02020603050405020304" pitchFamily="18" charset="0"/>
                <a:cs typeface="Times New Roman" panose="02020603050405020304" pitchFamily="18" charset="0"/>
              </a:rPr>
              <a:t>The system provides </a:t>
            </a:r>
            <a:r>
              <a:rPr lang="en-US" altLang="en-US" b="1" dirty="0">
                <a:latin typeface="Times New Roman" panose="02020603050405020304" pitchFamily="18" charset="0"/>
                <a:cs typeface="Times New Roman" panose="02020603050405020304" pitchFamily="18" charset="0"/>
              </a:rPr>
              <a:t>independent results</a:t>
            </a:r>
            <a:r>
              <a:rPr lang="en-US" altLang="en-US" dirty="0">
                <a:latin typeface="Times New Roman" panose="02020603050405020304" pitchFamily="18" charset="0"/>
                <a:cs typeface="Times New Roman" panose="02020603050405020304" pitchFamily="18" charset="0"/>
              </a:rPr>
              <a:t> for text and image authenticity.</a:t>
            </a:r>
          </a:p>
          <a:p>
            <a:pPr marL="285750" marR="0" lvl="0" indent="-285750" algn="just" defTabSz="914400" rtl="0" eaLnBrk="0" fontAlgn="base" latinLnBrk="0" hangingPunct="0">
              <a:spcBef>
                <a:spcPct val="0"/>
              </a:spcBef>
              <a:spcAft>
                <a:spcPct val="0"/>
              </a:spcAft>
              <a:buClrTx/>
              <a:buSzTx/>
              <a:buFont typeface="Arial" panose="020B0604020202020204" pitchFamily="34" charset="0"/>
              <a:buChar char="•"/>
              <a:tabLst/>
            </a:pPr>
            <a:r>
              <a:rPr lang="en-US" altLang="en-US" dirty="0">
                <a:latin typeface="Times New Roman" panose="02020603050405020304" pitchFamily="18" charset="0"/>
                <a:cs typeface="Times New Roman" panose="02020603050405020304" pitchFamily="18" charset="0"/>
              </a:rPr>
              <a:t>Users can give </a:t>
            </a:r>
            <a:r>
              <a:rPr lang="en-US" altLang="en-US" b="1" dirty="0">
                <a:latin typeface="Times New Roman" panose="02020603050405020304" pitchFamily="18" charset="0"/>
                <a:cs typeface="Times New Roman" panose="02020603050405020304" pitchFamily="18" charset="0"/>
              </a:rPr>
              <a:t>only text, only image, or both</a:t>
            </a:r>
            <a:r>
              <a:rPr lang="en-US" altLang="en-US" dirty="0">
                <a:latin typeface="Times New Roman" panose="02020603050405020304" pitchFamily="18" charset="0"/>
                <a:cs typeface="Times New Roman" panose="02020603050405020304" pitchFamily="18" charset="0"/>
              </a:rPr>
              <a:t> as input.</a:t>
            </a:r>
          </a:p>
          <a:p>
            <a:pPr marL="285750" marR="0" lvl="0" indent="-285750" algn="just" defTabSz="914400" rtl="0" eaLnBrk="0" fontAlgn="base" latinLnBrk="0" hangingPunct="0">
              <a:spcBef>
                <a:spcPct val="0"/>
              </a:spcBef>
              <a:spcAft>
                <a:spcPct val="0"/>
              </a:spcAft>
              <a:buClrTx/>
              <a:buSzTx/>
              <a:buFont typeface="Arial" panose="020B0604020202020204" pitchFamily="34" charset="0"/>
              <a:buChar char="•"/>
              <a:tabLst/>
            </a:pPr>
            <a:r>
              <a:rPr lang="en-US" altLang="en-US" dirty="0">
                <a:latin typeface="Times New Roman" panose="02020603050405020304" pitchFamily="18" charset="0"/>
                <a:cs typeface="Times New Roman" panose="02020603050405020304" pitchFamily="18" charset="0"/>
              </a:rPr>
              <a:t>The system identifies whether misinformation comes from </a:t>
            </a:r>
            <a:r>
              <a:rPr lang="en-US" altLang="en-US" b="1" dirty="0">
                <a:latin typeface="Times New Roman" panose="02020603050405020304" pitchFamily="18" charset="0"/>
                <a:cs typeface="Times New Roman" panose="02020603050405020304" pitchFamily="18" charset="0"/>
              </a:rPr>
              <a:t>text, image, or both</a:t>
            </a:r>
            <a:r>
              <a:rPr lang="en-US" altLang="en-US" dirty="0">
                <a:latin typeface="Times New Roman" panose="02020603050405020304" pitchFamily="18" charset="0"/>
                <a:cs typeface="Times New Roman" panose="02020603050405020304" pitchFamily="18" charset="0"/>
              </a:rPr>
              <a:t>.</a:t>
            </a:r>
          </a:p>
          <a:p>
            <a:pPr marL="285750" marR="0" lvl="0" indent="-285750" algn="just" defTabSz="914400" rtl="0" eaLnBrk="0" fontAlgn="base" latinLnBrk="0" hangingPunct="0">
              <a:spcBef>
                <a:spcPct val="0"/>
              </a:spcBef>
              <a:spcAft>
                <a:spcPct val="0"/>
              </a:spcAft>
              <a:buClrTx/>
              <a:buSzTx/>
              <a:buFont typeface="Arial" panose="020B0604020202020204" pitchFamily="34" charset="0"/>
              <a:buChar char="•"/>
              <a:tabLst/>
            </a:pPr>
            <a:r>
              <a:rPr lang="en-US" altLang="en-US" dirty="0">
                <a:latin typeface="Times New Roman" panose="02020603050405020304" pitchFamily="18" charset="0"/>
                <a:cs typeface="Times New Roman" panose="02020603050405020304" pitchFamily="18" charset="0"/>
              </a:rPr>
              <a:t>It improves </a:t>
            </a:r>
            <a:r>
              <a:rPr lang="en-US" altLang="en-US" b="1" dirty="0">
                <a:latin typeface="Times New Roman" panose="02020603050405020304" pitchFamily="18" charset="0"/>
                <a:cs typeface="Times New Roman" panose="02020603050405020304" pitchFamily="18" charset="0"/>
              </a:rPr>
              <a:t>accuracy and reliability</a:t>
            </a:r>
            <a:r>
              <a:rPr lang="en-US" altLang="en-US" dirty="0">
                <a:latin typeface="Times New Roman" panose="02020603050405020304" pitchFamily="18" charset="0"/>
                <a:cs typeface="Times New Roman" panose="02020603050405020304" pitchFamily="18" charset="0"/>
              </a:rPr>
              <a:t> compared to existing systems.</a:t>
            </a:r>
          </a:p>
          <a:p>
            <a:pPr marL="285750" marR="0" lvl="0" indent="-285750" algn="just" defTabSz="914400" rtl="0" eaLnBrk="0" fontAlgn="base" latinLnBrk="0" hangingPunct="0">
              <a:spcBef>
                <a:spcPct val="0"/>
              </a:spcBef>
              <a:spcAft>
                <a:spcPct val="0"/>
              </a:spcAft>
              <a:buClrTx/>
              <a:buSzTx/>
              <a:buFont typeface="Arial" panose="020B0604020202020204" pitchFamily="34" charset="0"/>
              <a:buChar char="•"/>
              <a:tabLst/>
            </a:pPr>
            <a:r>
              <a:rPr lang="en-US" altLang="en-US" dirty="0">
                <a:latin typeface="Times New Roman" panose="02020603050405020304" pitchFamily="18" charset="0"/>
                <a:cs typeface="Times New Roman" panose="02020603050405020304" pitchFamily="18" charset="0"/>
              </a:rPr>
              <a:t>The proposed system is suitable for </a:t>
            </a:r>
            <a:r>
              <a:rPr lang="en-US" altLang="en-US" b="1" dirty="0">
                <a:latin typeface="Times New Roman" panose="02020603050405020304" pitchFamily="18" charset="0"/>
                <a:cs typeface="Times New Roman" panose="02020603050405020304" pitchFamily="18" charset="0"/>
              </a:rPr>
              <a:t>social media, news platforms, and fact-checking systems</a:t>
            </a:r>
            <a:r>
              <a:rPr lang="en-US" altLang="en-US" dirty="0">
                <a:latin typeface="Times New Roman" panose="02020603050405020304" pitchFamily="18" charset="0"/>
                <a:cs typeface="Times New Roman" panose="02020603050405020304" pitchFamily="18" charset="0"/>
              </a:rPr>
              <a:t>.</a:t>
            </a:r>
          </a:p>
          <a:p>
            <a:pPr algn="just"/>
            <a:endParaRPr lang="en-US" dirty="0"/>
          </a:p>
        </p:txBody>
      </p:sp>
    </p:spTree>
    <p:extLst>
      <p:ext uri="{BB962C8B-B14F-4D97-AF65-F5344CB8AC3E}">
        <p14:creationId xmlns:p14="http://schemas.microsoft.com/office/powerpoint/2010/main" val="24156142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D7BECB-DCB1-3065-B381-06C77057E87C}"/>
              </a:ext>
            </a:extLst>
          </p:cNvPr>
          <p:cNvSpPr>
            <a:spLocks noGrp="1"/>
          </p:cNvSpPr>
          <p:nvPr>
            <p:ph type="title"/>
          </p:nvPr>
        </p:nvSpPr>
        <p:spPr>
          <a:xfrm>
            <a:off x="685800" y="342901"/>
            <a:ext cx="11490876" cy="830997"/>
          </a:xfrm>
        </p:spPr>
        <p:txBody>
          <a:bodyPr/>
          <a:lstStyle/>
          <a:p>
            <a:r>
              <a:rPr lang="en-IN" sz="5400" dirty="0"/>
              <a:t>SYSTEM ARCHITECTURE:</a:t>
            </a:r>
          </a:p>
        </p:txBody>
      </p:sp>
      <p:pic>
        <p:nvPicPr>
          <p:cNvPr id="7" name="Picture 6">
            <a:extLst>
              <a:ext uri="{FF2B5EF4-FFF2-40B4-BE49-F238E27FC236}">
                <a16:creationId xmlns:a16="http://schemas.microsoft.com/office/drawing/2014/main" id="{C01F4682-E54A-B05E-8F44-FB205B054CFF}"/>
              </a:ext>
            </a:extLst>
          </p:cNvPr>
          <p:cNvPicPr>
            <a:picLocks noChangeAspect="1"/>
          </p:cNvPicPr>
          <p:nvPr/>
        </p:nvPicPr>
        <p:blipFill>
          <a:blip r:embed="rId2"/>
          <a:stretch>
            <a:fillRect/>
          </a:stretch>
        </p:blipFill>
        <p:spPr>
          <a:xfrm>
            <a:off x="3886200" y="1173898"/>
            <a:ext cx="10134600" cy="8922602"/>
          </a:xfrm>
          <a:prstGeom prst="rect">
            <a:avLst/>
          </a:prstGeom>
        </p:spPr>
      </p:pic>
    </p:spTree>
    <p:extLst>
      <p:ext uri="{BB962C8B-B14F-4D97-AF65-F5344CB8AC3E}">
        <p14:creationId xmlns:p14="http://schemas.microsoft.com/office/powerpoint/2010/main" val="33321836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33294B6-33E3-601E-0D52-B64CBBACA8AB}"/>
              </a:ext>
            </a:extLst>
          </p:cNvPr>
          <p:cNvPicPr>
            <a:picLocks noChangeAspect="1"/>
          </p:cNvPicPr>
          <p:nvPr/>
        </p:nvPicPr>
        <p:blipFill>
          <a:blip r:embed="rId2"/>
          <a:stretch>
            <a:fillRect/>
          </a:stretch>
        </p:blipFill>
        <p:spPr>
          <a:xfrm>
            <a:off x="3347344" y="474060"/>
            <a:ext cx="12426056" cy="8860440"/>
          </a:xfrm>
          <a:prstGeom prst="rect">
            <a:avLst/>
          </a:prstGeom>
        </p:spPr>
      </p:pic>
    </p:spTree>
    <p:extLst>
      <p:ext uri="{BB962C8B-B14F-4D97-AF65-F5344CB8AC3E}">
        <p14:creationId xmlns:p14="http://schemas.microsoft.com/office/powerpoint/2010/main" val="18070689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381709-30AF-A655-03D6-F903CC33073A}"/>
              </a:ext>
            </a:extLst>
          </p:cNvPr>
          <p:cNvSpPr>
            <a:spLocks noGrp="1"/>
          </p:cNvSpPr>
          <p:nvPr>
            <p:ph type="title"/>
          </p:nvPr>
        </p:nvSpPr>
        <p:spPr>
          <a:xfrm>
            <a:off x="457200" y="330034"/>
            <a:ext cx="11353800" cy="1224864"/>
          </a:xfrm>
        </p:spPr>
        <p:txBody>
          <a:bodyPr/>
          <a:lstStyle/>
          <a:p>
            <a:r>
              <a:rPr lang="en-IN" sz="5400" dirty="0"/>
              <a:t>DESIGN</a:t>
            </a:r>
          </a:p>
        </p:txBody>
      </p:sp>
      <p:sp>
        <p:nvSpPr>
          <p:cNvPr id="5" name="Rectangle 2">
            <a:extLst>
              <a:ext uri="{FF2B5EF4-FFF2-40B4-BE49-F238E27FC236}">
                <a16:creationId xmlns:a16="http://schemas.microsoft.com/office/drawing/2014/main" id="{D22ABA3C-0EFA-11D5-A685-3DBDC125410B}"/>
              </a:ext>
            </a:extLst>
          </p:cNvPr>
          <p:cNvSpPr>
            <a:spLocks noGrp="1" noChangeArrowheads="1"/>
          </p:cNvSpPr>
          <p:nvPr>
            <p:ph type="body" idx="1"/>
          </p:nvPr>
        </p:nvSpPr>
        <p:spPr bwMode="auto">
          <a:xfrm>
            <a:off x="1066800" y="1688049"/>
            <a:ext cx="16078200" cy="58169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just" defTabSz="914400" rtl="0" eaLnBrk="0" fontAlgn="base" latinLnBrk="0" hangingPunct="0">
              <a:spcBef>
                <a:spcPct val="0"/>
              </a:spcBef>
              <a:spcAft>
                <a:spcPct val="0"/>
              </a:spcAft>
              <a:buClrTx/>
              <a:buSzTx/>
              <a:tabLst/>
            </a:pPr>
            <a:r>
              <a:rPr kumimoji="0" lang="en-US" altLang="en-US" b="0" i="0" u="none" strike="noStrike" cap="none" normalizeH="0" baseline="0" dirty="0">
                <a:ln>
                  <a:noFill/>
                </a:ln>
                <a:effectLst/>
                <a:latin typeface="Times New Roman" panose="02020603050405020304" pitchFamily="18" charset="0"/>
                <a:cs typeface="Times New Roman" panose="02020603050405020304" pitchFamily="18" charset="0"/>
              </a:rPr>
              <a:t>The system is developed using a </a:t>
            </a:r>
            <a:r>
              <a:rPr kumimoji="0" lang="en-US" altLang="en-US" b="1" i="0" u="none" strike="noStrike" cap="none" normalizeH="0" baseline="0" dirty="0">
                <a:ln>
                  <a:noFill/>
                </a:ln>
                <a:effectLst/>
                <a:latin typeface="Times New Roman" panose="02020603050405020304" pitchFamily="18" charset="0"/>
                <a:cs typeface="Times New Roman" panose="02020603050405020304" pitchFamily="18" charset="0"/>
              </a:rPr>
              <a:t>multimodal deep learning approach</a:t>
            </a:r>
            <a:r>
              <a:rPr kumimoji="0" lang="en-US" altLang="en-US" b="0" i="0" u="none" strike="noStrike" cap="none" normalizeH="0" baseline="0" dirty="0">
                <a:ln>
                  <a:noFill/>
                </a:ln>
                <a:effectLst/>
                <a:latin typeface="Times New Roman" panose="02020603050405020304" pitchFamily="18" charset="0"/>
                <a:cs typeface="Times New Roman" panose="02020603050405020304" pitchFamily="18" charset="0"/>
              </a:rPr>
              <a:t> that combines both </a:t>
            </a:r>
            <a:r>
              <a:rPr kumimoji="0" lang="en-US" altLang="en-US" b="1" i="0" u="none" strike="noStrike" cap="none" normalizeH="0" baseline="0" dirty="0">
                <a:ln>
                  <a:noFill/>
                </a:ln>
                <a:effectLst/>
                <a:latin typeface="Times New Roman" panose="02020603050405020304" pitchFamily="18" charset="0"/>
                <a:cs typeface="Times New Roman" panose="02020603050405020304" pitchFamily="18" charset="0"/>
              </a:rPr>
              <a:t>text and image analysis</a:t>
            </a:r>
            <a:r>
              <a:rPr kumimoji="0" lang="en-US" altLang="en-US" b="0" i="0" u="none" strike="noStrike" cap="none" normalizeH="0" baseline="0" dirty="0">
                <a:ln>
                  <a:noFill/>
                </a:ln>
                <a:effectLst/>
                <a:latin typeface="Times New Roman" panose="02020603050405020304" pitchFamily="18" charset="0"/>
                <a:cs typeface="Times New Roman" panose="02020603050405020304" pitchFamily="18" charset="0"/>
              </a:rPr>
              <a:t> to detect fake news. </a:t>
            </a:r>
          </a:p>
          <a:p>
            <a:pPr marL="514350" marR="0" lvl="0" indent="-514350" algn="just" defTabSz="914400" rtl="0" eaLnBrk="0" fontAlgn="base" latinLnBrk="0" hangingPunct="0">
              <a:spcBef>
                <a:spcPct val="0"/>
              </a:spcBef>
              <a:spcAft>
                <a:spcPct val="0"/>
              </a:spcAft>
              <a:buClrTx/>
              <a:buSzTx/>
              <a:buFont typeface="+mj-lt"/>
              <a:buAutoNum type="arabicPeriod"/>
              <a:tabLst/>
            </a:pPr>
            <a:r>
              <a:rPr kumimoji="0" lang="en-US" altLang="en-US" b="1" i="0" u="none" strike="noStrike" cap="none" normalizeH="0" baseline="0" dirty="0">
                <a:ln>
                  <a:noFill/>
                </a:ln>
                <a:effectLst/>
                <a:latin typeface="Times New Roman" panose="02020603050405020304" pitchFamily="18" charset="0"/>
                <a:cs typeface="Times New Roman" panose="02020603050405020304" pitchFamily="18" charset="0"/>
              </a:rPr>
              <a:t>Data Collection &amp; Preprocessing:</a:t>
            </a:r>
            <a:r>
              <a:rPr kumimoji="0" lang="en-US" altLang="en-US" b="0" i="0" u="none" strike="noStrike" cap="none" normalizeH="0" baseline="0" dirty="0">
                <a:ln>
                  <a:noFill/>
                </a:ln>
                <a:effectLst/>
                <a:latin typeface="Times New Roman" panose="02020603050405020304" pitchFamily="18" charset="0"/>
                <a:cs typeface="Times New Roman" panose="02020603050405020304" pitchFamily="18" charset="0"/>
              </a:rPr>
              <a:t>      </a:t>
            </a:r>
          </a:p>
          <a:p>
            <a:pPr marL="457200" marR="0" lvl="0" indent="-457200" algn="just" defTabSz="914400" rtl="0" eaLnBrk="0" fontAlgn="base" latinLnBrk="0" hangingPunct="0">
              <a:spcBef>
                <a:spcPct val="0"/>
              </a:spcBef>
              <a:spcAft>
                <a:spcPct val="0"/>
              </a:spcAft>
              <a:buClrTx/>
              <a:buSzTx/>
              <a:buFont typeface="Arial" panose="020B0604020202020204" pitchFamily="34" charset="0"/>
              <a:buChar char="•"/>
              <a:tabLst/>
            </a:pPr>
            <a:r>
              <a:rPr kumimoji="0" lang="en-US" altLang="en-US" b="0" i="0" u="none" strike="noStrike" cap="none" normalizeH="0" baseline="0" dirty="0">
                <a:ln>
                  <a:noFill/>
                </a:ln>
                <a:effectLst/>
                <a:latin typeface="Times New Roman" panose="02020603050405020304" pitchFamily="18" charset="0"/>
                <a:cs typeface="Times New Roman" panose="02020603050405020304" pitchFamily="18" charset="0"/>
              </a:rPr>
              <a:t> A multimodal dataset consisting of news text and related images and datasets is collected</a:t>
            </a:r>
            <a:r>
              <a:rPr lang="en-US" altLang="en-US" dirty="0">
                <a:latin typeface="Times New Roman" panose="02020603050405020304" pitchFamily="18" charset="0"/>
                <a:cs typeface="Times New Roman" panose="02020603050405020304" pitchFamily="18" charset="0"/>
              </a:rPr>
              <a:t>.</a:t>
            </a:r>
          </a:p>
          <a:p>
            <a:pPr marL="457200" marR="0" lvl="0" indent="-457200" algn="just" defTabSz="914400" rtl="0" eaLnBrk="0" fontAlgn="base" latinLnBrk="0" hangingPunct="0">
              <a:spcBef>
                <a:spcPct val="0"/>
              </a:spcBef>
              <a:spcAft>
                <a:spcPct val="0"/>
              </a:spcAft>
              <a:buClrTx/>
              <a:buSzTx/>
              <a:buFont typeface="Arial" panose="020B0604020202020204" pitchFamily="34" charset="0"/>
              <a:buChar char="•"/>
              <a:tabLst/>
            </a:pPr>
            <a:r>
              <a:rPr kumimoji="0" lang="en-US" altLang="en-US" b="0" i="0" u="none" strike="noStrike" cap="none" normalizeH="0" baseline="0" dirty="0">
                <a:ln>
                  <a:noFill/>
                </a:ln>
                <a:effectLst/>
                <a:latin typeface="Times New Roman" panose="02020603050405020304" pitchFamily="18" charset="0"/>
                <a:cs typeface="Times New Roman" panose="02020603050405020304" pitchFamily="18" charset="0"/>
              </a:rPr>
              <a:t>Text data is preprocessed by removing noise, converting to lowercase, and tokenization.</a:t>
            </a:r>
          </a:p>
          <a:p>
            <a:pPr marL="457200" marR="0" lvl="0" indent="-457200" algn="just" defTabSz="914400" rtl="0" eaLnBrk="0" fontAlgn="base" latinLnBrk="0" hangingPunct="0">
              <a:spcBef>
                <a:spcPct val="0"/>
              </a:spcBef>
              <a:spcAft>
                <a:spcPct val="0"/>
              </a:spcAft>
              <a:buClrTx/>
              <a:buSzTx/>
              <a:buFont typeface="Arial" panose="020B0604020202020204" pitchFamily="34" charset="0"/>
              <a:buChar char="•"/>
              <a:tabLst/>
            </a:pPr>
            <a:r>
              <a:rPr kumimoji="0" lang="en-US" altLang="en-US" b="0" i="0" u="none" strike="noStrike" cap="none" normalizeH="0" baseline="0" dirty="0">
                <a:ln>
                  <a:noFill/>
                </a:ln>
                <a:effectLst/>
                <a:latin typeface="Times New Roman" panose="02020603050405020304" pitchFamily="18" charset="0"/>
                <a:cs typeface="Times New Roman" panose="02020603050405020304" pitchFamily="18" charset="0"/>
              </a:rPr>
              <a:t>Image data is preprocessed through resizing, normalization, and optional augmentation. </a:t>
            </a:r>
          </a:p>
          <a:p>
            <a:pPr marR="0" lvl="0" algn="just" defTabSz="914400" rtl="0" eaLnBrk="0" fontAlgn="base" latinLnBrk="0" hangingPunct="0">
              <a:spcBef>
                <a:spcPct val="0"/>
              </a:spcBef>
              <a:spcAft>
                <a:spcPct val="0"/>
              </a:spcAft>
              <a:buClrTx/>
              <a:buSzTx/>
              <a:tabLst/>
            </a:pPr>
            <a:r>
              <a:rPr kumimoji="0" lang="en-US" altLang="en-US" b="1" i="0" u="none" strike="noStrike" cap="none" normalizeH="0" baseline="0" dirty="0">
                <a:ln>
                  <a:noFill/>
                </a:ln>
                <a:effectLst/>
                <a:latin typeface="Times New Roman" panose="02020603050405020304" pitchFamily="18" charset="0"/>
                <a:cs typeface="Times New Roman" panose="02020603050405020304" pitchFamily="18" charset="0"/>
              </a:rPr>
              <a:t>2.  Text Analysis Module:</a:t>
            </a:r>
            <a:endParaRPr lang="en-US" altLang="en-US" dirty="0">
              <a:latin typeface="Times New Roman" panose="02020603050405020304" pitchFamily="18" charset="0"/>
              <a:cs typeface="Times New Roman" panose="02020603050405020304" pitchFamily="18" charset="0"/>
            </a:endParaRPr>
          </a:p>
          <a:p>
            <a:pPr marL="514350" marR="0" lvl="0" indent="-514350" algn="just" defTabSz="914400" rtl="0" eaLnBrk="0" fontAlgn="base" latinLnBrk="0" hangingPunct="0">
              <a:spcBef>
                <a:spcPct val="0"/>
              </a:spcBef>
              <a:spcAft>
                <a:spcPct val="0"/>
              </a:spcAft>
              <a:buClrTx/>
              <a:buSzTx/>
              <a:buFont typeface="Arial" panose="020B0604020202020204" pitchFamily="34" charset="0"/>
              <a:buChar char="•"/>
              <a:tabLst/>
            </a:pPr>
            <a:r>
              <a:rPr kumimoji="0" lang="en-US" altLang="en-US" b="0" i="0" u="none" strike="noStrike" cap="none" normalizeH="0" baseline="0" dirty="0">
                <a:ln>
                  <a:noFill/>
                </a:ln>
                <a:effectLst/>
                <a:latin typeface="Times New Roman" panose="02020603050405020304" pitchFamily="18" charset="0"/>
                <a:cs typeface="Times New Roman" panose="02020603050405020304" pitchFamily="18" charset="0"/>
              </a:rPr>
              <a:t>The input text is processed using </a:t>
            </a:r>
            <a:r>
              <a:rPr kumimoji="0" lang="en-US" altLang="en-US" b="1" i="0" u="none" strike="noStrike" cap="none" normalizeH="0" baseline="0" dirty="0">
                <a:ln>
                  <a:noFill/>
                </a:ln>
                <a:effectLst/>
                <a:latin typeface="Times New Roman" panose="02020603050405020304" pitchFamily="18" charset="0"/>
                <a:cs typeface="Times New Roman" panose="02020603050405020304" pitchFamily="18" charset="0"/>
              </a:rPr>
              <a:t>BERT</a:t>
            </a:r>
            <a:r>
              <a:rPr kumimoji="0" lang="en-US" altLang="en-US" b="0" i="0" u="none" strike="noStrike" cap="none" normalizeH="0" baseline="0" dirty="0">
                <a:ln>
                  <a:noFill/>
                </a:ln>
                <a:effectLst/>
                <a:latin typeface="Times New Roman" panose="02020603050405020304" pitchFamily="18" charset="0"/>
                <a:cs typeface="Times New Roman" panose="02020603050405020304" pitchFamily="18" charset="0"/>
              </a:rPr>
              <a:t> to extract contextual embeddings.</a:t>
            </a:r>
          </a:p>
          <a:p>
            <a:pPr marL="514350" marR="0" lvl="0" indent="-514350" algn="just" defTabSz="914400" rtl="0" eaLnBrk="0" fontAlgn="base" latinLnBrk="0" hangingPunct="0">
              <a:spcBef>
                <a:spcPct val="0"/>
              </a:spcBef>
              <a:spcAft>
                <a:spcPct val="0"/>
              </a:spcAft>
              <a:buClrTx/>
              <a:buSzTx/>
              <a:buFont typeface="Arial" panose="020B0604020202020204" pitchFamily="34" charset="0"/>
              <a:buChar char="•"/>
              <a:tabLst/>
            </a:pPr>
            <a:r>
              <a:rPr kumimoji="0" lang="en-US" altLang="en-US" b="0" i="0" u="none" strike="noStrike" cap="none" normalizeH="0" baseline="0" dirty="0">
                <a:ln>
                  <a:noFill/>
                </a:ln>
                <a:effectLst/>
                <a:latin typeface="Times New Roman" panose="02020603050405020304" pitchFamily="18" charset="0"/>
                <a:cs typeface="Times New Roman" panose="02020603050405020304" pitchFamily="18" charset="0"/>
              </a:rPr>
              <a:t>These embeddings are passed through a </a:t>
            </a:r>
            <a:r>
              <a:rPr kumimoji="0" lang="en-US" altLang="en-US" b="1" i="0" u="none" strike="noStrike" cap="none" normalizeH="0" baseline="0" dirty="0">
                <a:ln>
                  <a:noFill/>
                </a:ln>
                <a:effectLst/>
                <a:latin typeface="Times New Roman" panose="02020603050405020304" pitchFamily="18" charset="0"/>
                <a:cs typeface="Times New Roman" panose="02020603050405020304" pitchFamily="18" charset="0"/>
              </a:rPr>
              <a:t>CNN layer</a:t>
            </a:r>
            <a:r>
              <a:rPr kumimoji="0" lang="en-US" altLang="en-US" b="0" i="0" u="none" strike="noStrike" cap="none" normalizeH="0" baseline="0" dirty="0">
                <a:ln>
                  <a:noFill/>
                </a:ln>
                <a:effectLst/>
                <a:latin typeface="Times New Roman" panose="02020603050405020304" pitchFamily="18" charset="0"/>
                <a:cs typeface="Times New Roman" panose="02020603050405020304" pitchFamily="18" charset="0"/>
              </a:rPr>
              <a:t> to capture local patterns and important phrases.</a:t>
            </a:r>
            <a:endParaRPr kumimoji="0" lang="en-US" altLang="en-US" sz="3200" b="0" i="0" u="none" strike="noStrike" cap="none" normalizeH="0" baseline="0" dirty="0">
              <a:ln>
                <a:noFill/>
              </a:ln>
              <a:solidFill>
                <a:schemeClr val="tx1"/>
              </a:solidFill>
              <a:effectLst/>
              <a:latin typeface="Arial" panose="020B0604020202020204" pitchFamily="34" charset="0"/>
              <a:cs typeface="Times New Roman" panose="02020603050405020304" pitchFamily="18" charset="0"/>
            </a:endParaRPr>
          </a:p>
          <a:p>
            <a:pPr marL="514350" marR="0" lvl="0" indent="-514350" algn="just" defTabSz="914400" rtl="0" eaLnBrk="0" fontAlgn="base" latinLnBrk="0" hangingPunct="0">
              <a:spcBef>
                <a:spcPct val="0"/>
              </a:spcBef>
              <a:spcAft>
                <a:spcPct val="0"/>
              </a:spcAft>
              <a:buClrTx/>
              <a:buSzTx/>
              <a:buFont typeface="Arial" panose="020B0604020202020204" pitchFamily="34" charset="0"/>
              <a:buChar char="•"/>
              <a:tabLst/>
            </a:pPr>
            <a:r>
              <a:rPr lang="en-US" dirty="0">
                <a:latin typeface="Times New Roman" panose="02020603050405020304" pitchFamily="18" charset="0"/>
                <a:cs typeface="Times New Roman" panose="02020603050405020304" pitchFamily="18" charset="0"/>
              </a:rPr>
              <a:t>A </a:t>
            </a:r>
            <a:r>
              <a:rPr lang="en-US" b="1" dirty="0">
                <a:latin typeface="Times New Roman" panose="02020603050405020304" pitchFamily="18" charset="0"/>
                <a:cs typeface="Times New Roman" panose="02020603050405020304" pitchFamily="18" charset="0"/>
              </a:rPr>
              <a:t>GRU layer</a:t>
            </a:r>
            <a:r>
              <a:rPr lang="en-US" dirty="0">
                <a:latin typeface="Times New Roman" panose="02020603050405020304" pitchFamily="18" charset="0"/>
                <a:cs typeface="Times New Roman" panose="02020603050405020304" pitchFamily="18" charset="0"/>
              </a:rPr>
              <a:t> is then used to learn sequential dependencies in the text.</a:t>
            </a:r>
          </a:p>
          <a:p>
            <a:pPr marL="514350" marR="0" lvl="0" indent="-514350" algn="just" defTabSz="914400" rtl="0" eaLnBrk="0" fontAlgn="base" latinLnBrk="0" hangingPunct="0">
              <a:spcBef>
                <a:spcPct val="0"/>
              </a:spcBef>
              <a:spcAft>
                <a:spcPct val="0"/>
              </a:spcAft>
              <a:buClrTx/>
              <a:buSzTx/>
              <a:buFont typeface="Arial" panose="020B0604020202020204" pitchFamily="34" charset="0"/>
              <a:buChar char="•"/>
              <a:tabLst/>
            </a:pPr>
            <a:r>
              <a:rPr lang="en-US" dirty="0">
                <a:latin typeface="Times New Roman" panose="02020603050405020304" pitchFamily="18" charset="0"/>
                <a:cs typeface="Times New Roman" panose="02020603050405020304" pitchFamily="18" charset="0"/>
              </a:rPr>
              <a:t>Finally, a </a:t>
            </a:r>
            <a:r>
              <a:rPr lang="en-US" b="1" dirty="0">
                <a:latin typeface="Times New Roman" panose="02020603050405020304" pitchFamily="18" charset="0"/>
                <a:cs typeface="Times New Roman" panose="02020603050405020304" pitchFamily="18" charset="0"/>
              </a:rPr>
              <a:t>text authenticity score</a:t>
            </a:r>
            <a:r>
              <a:rPr lang="en-US" dirty="0">
                <a:latin typeface="Times New Roman" panose="02020603050405020304" pitchFamily="18" charset="0"/>
                <a:cs typeface="Times New Roman" panose="02020603050405020304" pitchFamily="18" charset="0"/>
              </a:rPr>
              <a:t> is generated.</a:t>
            </a:r>
            <a:endParaRPr lang="en-US"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178553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D45DFF73-5D8D-2D25-2FFA-49DE4902943A}"/>
              </a:ext>
            </a:extLst>
          </p:cNvPr>
          <p:cNvSpPr>
            <a:spLocks noGrp="1"/>
          </p:cNvSpPr>
          <p:nvPr>
            <p:ph type="body" idx="1"/>
          </p:nvPr>
        </p:nvSpPr>
        <p:spPr>
          <a:xfrm>
            <a:off x="1143000" y="1409700"/>
            <a:ext cx="15518872" cy="6629400"/>
          </a:xfrm>
        </p:spPr>
        <p:txBody>
          <a:bodyPr/>
          <a:lstStyle/>
          <a:p>
            <a:pPr marL="514350" indent="-514350" algn="l">
              <a:buFont typeface="+mj-lt"/>
              <a:buAutoNum type="arabicPeriod" startAt="3"/>
            </a:pPr>
            <a:r>
              <a:rPr lang="en-US" b="1" dirty="0">
                <a:latin typeface="Times New Roman" panose="02020603050405020304" pitchFamily="18" charset="0"/>
                <a:cs typeface="Times New Roman" panose="02020603050405020304" pitchFamily="18" charset="0"/>
              </a:rPr>
              <a:t>  Image Analysis Module:</a:t>
            </a:r>
          </a:p>
          <a:p>
            <a:pPr marL="457200" indent="-457200" algn="l">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input image is processed using deep learning models like </a:t>
            </a:r>
            <a:r>
              <a:rPr lang="en-US" b="1" dirty="0" err="1">
                <a:latin typeface="Times New Roman" panose="02020603050405020304" pitchFamily="18" charset="0"/>
                <a:cs typeface="Times New Roman" panose="02020603050405020304" pitchFamily="18" charset="0"/>
              </a:rPr>
              <a:t>ResNet</a:t>
            </a:r>
            <a:r>
              <a:rPr lang="en-US" b="1" dirty="0">
                <a:latin typeface="Times New Roman" panose="02020603050405020304" pitchFamily="18" charset="0"/>
                <a:cs typeface="Times New Roman" panose="02020603050405020304" pitchFamily="18" charset="0"/>
              </a:rPr>
              <a:t> or </a:t>
            </a:r>
            <a:r>
              <a:rPr lang="en-US" b="1" dirty="0" err="1">
                <a:latin typeface="Times New Roman" panose="02020603050405020304" pitchFamily="18" charset="0"/>
                <a:cs typeface="Times New Roman" panose="02020603050405020304" pitchFamily="18" charset="0"/>
              </a:rPr>
              <a:t>EfficientNet</a:t>
            </a:r>
            <a:r>
              <a:rPr lang="en-US" dirty="0">
                <a:latin typeface="Times New Roman" panose="02020603050405020304" pitchFamily="18" charset="0"/>
                <a:cs typeface="Times New Roman" panose="02020603050405020304" pitchFamily="18" charset="0"/>
              </a:rPr>
              <a:t> to extract high-level visual features.</a:t>
            </a:r>
          </a:p>
          <a:p>
            <a:pPr marL="457200" indent="-457200" algn="l">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An attention mechanism (</a:t>
            </a:r>
            <a:r>
              <a:rPr lang="en-US" b="1" dirty="0">
                <a:latin typeface="Times New Roman" panose="02020603050405020304" pitchFamily="18" charset="0"/>
                <a:cs typeface="Times New Roman" panose="02020603050405020304" pitchFamily="18" charset="0"/>
              </a:rPr>
              <a:t>CBAM</a:t>
            </a:r>
            <a:r>
              <a:rPr lang="en-US" dirty="0">
                <a:latin typeface="Times New Roman" panose="02020603050405020304" pitchFamily="18" charset="0"/>
                <a:cs typeface="Times New Roman" panose="02020603050405020304" pitchFamily="18" charset="0"/>
              </a:rPr>
              <a:t>) is applied to focus on important regions of the image.</a:t>
            </a:r>
          </a:p>
          <a:p>
            <a:pPr marL="457200" indent="-457200" algn="l">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This module generates an </a:t>
            </a:r>
            <a:r>
              <a:rPr lang="en-US" b="1" dirty="0">
                <a:latin typeface="Times New Roman" panose="02020603050405020304" pitchFamily="18" charset="0"/>
                <a:cs typeface="Times New Roman" panose="02020603050405020304" pitchFamily="18" charset="0"/>
              </a:rPr>
              <a:t>image authenticity score</a:t>
            </a:r>
            <a:r>
              <a:rPr lang="en-US" dirty="0">
                <a:latin typeface="Times New Roman" panose="02020603050405020304" pitchFamily="18" charset="0"/>
                <a:cs typeface="Times New Roman" panose="02020603050405020304" pitchFamily="18" charset="0"/>
              </a:rPr>
              <a:t>. </a:t>
            </a:r>
          </a:p>
          <a:p>
            <a:pPr marL="514350" indent="-514350" algn="l">
              <a:buFont typeface="+mj-lt"/>
              <a:buAutoNum type="arabicPeriod" startAt="4"/>
            </a:pPr>
            <a:r>
              <a:rPr lang="en-US" b="1" dirty="0">
                <a:latin typeface="Times New Roman" panose="02020603050405020304" pitchFamily="18" charset="0"/>
                <a:cs typeface="Times New Roman" panose="02020603050405020304" pitchFamily="18" charset="0"/>
              </a:rPr>
              <a:t>Decision &amp; Fusion Module:</a:t>
            </a:r>
          </a:p>
          <a:p>
            <a:pPr marL="457200" indent="-457200" algn="l">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outputs from both text and image modules are combined using a </a:t>
            </a:r>
            <a:r>
              <a:rPr lang="en-US" b="1" dirty="0">
                <a:latin typeface="Times New Roman" panose="02020603050405020304" pitchFamily="18" charset="0"/>
                <a:cs typeface="Times New Roman" panose="02020603050405020304" pitchFamily="18" charset="0"/>
              </a:rPr>
              <a:t>late fusion technique</a:t>
            </a:r>
            <a:r>
              <a:rPr lang="en-US" dirty="0">
                <a:latin typeface="Times New Roman" panose="02020603050405020304" pitchFamily="18" charset="0"/>
                <a:cs typeface="Times New Roman" panose="02020603050405020304" pitchFamily="18" charset="0"/>
              </a:rPr>
              <a:t>.</a:t>
            </a:r>
          </a:p>
          <a:p>
            <a:pPr marL="457200" indent="-457200" algn="l">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system also identifies the source of misinformation as </a:t>
            </a:r>
            <a:r>
              <a:rPr lang="en-US" b="1" dirty="0">
                <a:latin typeface="Times New Roman" panose="02020603050405020304" pitchFamily="18" charset="0"/>
                <a:cs typeface="Times New Roman" panose="02020603050405020304" pitchFamily="18" charset="0"/>
              </a:rPr>
              <a:t>text-based, image-based, or both</a:t>
            </a:r>
            <a:r>
              <a:rPr lang="en-US" dirty="0">
                <a:latin typeface="Times New Roman" panose="02020603050405020304" pitchFamily="18" charset="0"/>
                <a:cs typeface="Times New Roman" panose="02020603050405020304" pitchFamily="18" charset="0"/>
              </a:rPr>
              <a:t>. </a:t>
            </a:r>
          </a:p>
          <a:p>
            <a:pPr marL="514350" indent="-514350" algn="l">
              <a:buFont typeface="+mj-lt"/>
              <a:buAutoNum type="arabicPeriod" startAt="5"/>
            </a:pPr>
            <a:r>
              <a:rPr lang="en-US" b="1" dirty="0">
                <a:latin typeface="Times New Roman" panose="02020603050405020304" pitchFamily="18" charset="0"/>
                <a:cs typeface="Times New Roman" panose="02020603050405020304" pitchFamily="18" charset="0"/>
              </a:rPr>
              <a:t>Final Output:</a:t>
            </a:r>
          </a:p>
          <a:p>
            <a:pPr marL="457200" indent="-457200" algn="l">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system produces the final prediction as </a:t>
            </a:r>
            <a:r>
              <a:rPr lang="en-US" b="1" dirty="0">
                <a:latin typeface="Times New Roman" panose="02020603050405020304" pitchFamily="18" charset="0"/>
                <a:cs typeface="Times New Roman" panose="02020603050405020304" pitchFamily="18" charset="0"/>
              </a:rPr>
              <a:t>Fake or Real news</a:t>
            </a:r>
            <a:r>
              <a:rPr lang="en-US" dirty="0">
                <a:latin typeface="Times New Roman" panose="02020603050405020304" pitchFamily="18" charset="0"/>
                <a:cs typeface="Times New Roman" panose="02020603050405020304" pitchFamily="18" charset="0"/>
              </a:rPr>
              <a:t> along with a </a:t>
            </a:r>
            <a:r>
              <a:rPr lang="en-US" b="1" dirty="0">
                <a:latin typeface="Times New Roman" panose="02020603050405020304" pitchFamily="18" charset="0"/>
                <a:cs typeface="Times New Roman" panose="02020603050405020304" pitchFamily="18" charset="0"/>
              </a:rPr>
              <a:t>confidence score</a:t>
            </a:r>
            <a:r>
              <a:rPr lang="en-US" dirty="0">
                <a:latin typeface="Times New Roman" panose="02020603050405020304" pitchFamily="18" charset="0"/>
                <a:cs typeface="Times New Roman" panose="02020603050405020304" pitchFamily="18" charset="0"/>
              </a:rPr>
              <a:t>, improving interpretability and reliability. </a:t>
            </a:r>
          </a:p>
          <a:p>
            <a:pPr algn="l"/>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136492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5CBB79-B7DD-9111-F950-8D0199A2F17F}"/>
              </a:ext>
            </a:extLst>
          </p:cNvPr>
          <p:cNvSpPr>
            <a:spLocks noGrp="1"/>
          </p:cNvSpPr>
          <p:nvPr>
            <p:ph type="title"/>
          </p:nvPr>
        </p:nvSpPr>
        <p:spPr>
          <a:xfrm>
            <a:off x="228600" y="571500"/>
            <a:ext cx="14398404" cy="990600"/>
          </a:xfrm>
        </p:spPr>
        <p:txBody>
          <a:bodyPr/>
          <a:lstStyle/>
          <a:p>
            <a:r>
              <a:rPr lang="en-IN" dirty="0"/>
              <a:t>IMPLEMENTATION OF CODE</a:t>
            </a:r>
          </a:p>
        </p:txBody>
      </p:sp>
      <p:sp>
        <p:nvSpPr>
          <p:cNvPr id="12" name="Rectangle 7">
            <a:extLst>
              <a:ext uri="{FF2B5EF4-FFF2-40B4-BE49-F238E27FC236}">
                <a16:creationId xmlns:a16="http://schemas.microsoft.com/office/drawing/2014/main" id="{7FDAD388-826D-7260-D790-28DF9B73D3CA}"/>
              </a:ext>
            </a:extLst>
          </p:cNvPr>
          <p:cNvSpPr>
            <a:spLocks noGrp="1" noChangeArrowheads="1"/>
          </p:cNvSpPr>
          <p:nvPr>
            <p:ph type="body" idx="1"/>
          </p:nvPr>
        </p:nvSpPr>
        <p:spPr bwMode="auto">
          <a:xfrm>
            <a:off x="762000" y="2462521"/>
            <a:ext cx="16306800" cy="58169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effectLst/>
                <a:latin typeface="Times New Roman" panose="02020603050405020304" pitchFamily="18" charset="0"/>
                <a:cs typeface="Times New Roman" panose="02020603050405020304" pitchFamily="18" charset="0"/>
              </a:rPr>
              <a:t>The project is implemented using Python with deep learning frameworks and a modular structure.</a:t>
            </a:r>
          </a:p>
          <a:p>
            <a:pPr marL="514350" marR="0" lvl="0" indent="-514350" algn="just" defTabSz="914400" rtl="0" eaLnBrk="0" fontAlgn="base" latinLnBrk="0" hangingPunct="0">
              <a:lnSpc>
                <a:spcPct val="100000"/>
              </a:lnSpc>
              <a:spcBef>
                <a:spcPct val="0"/>
              </a:spcBef>
              <a:spcAft>
                <a:spcPct val="0"/>
              </a:spcAft>
              <a:buClrTx/>
              <a:buSzTx/>
              <a:buFont typeface="+mj-lt"/>
              <a:buAutoNum type="arabicPeriod"/>
              <a:tabLst/>
            </a:pPr>
            <a:r>
              <a:rPr kumimoji="0" lang="en-US" altLang="en-US" b="1" i="0" u="none" strike="noStrike" cap="none" normalizeH="0" baseline="0" dirty="0">
                <a:ln>
                  <a:noFill/>
                </a:ln>
                <a:effectLst/>
                <a:latin typeface="Times New Roman" panose="02020603050405020304" pitchFamily="18" charset="0"/>
                <a:cs typeface="Times New Roman" panose="02020603050405020304" pitchFamily="18" charset="0"/>
              </a:rPr>
              <a:t>Text Model Implementation:</a:t>
            </a:r>
          </a:p>
          <a:p>
            <a:pPr marL="457200" marR="0" lvl="0" indent="-45720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b="0" i="0" u="none" strike="noStrike" cap="none" normalizeH="0" baseline="0" dirty="0">
                <a:ln>
                  <a:noFill/>
                </a:ln>
                <a:effectLst/>
                <a:latin typeface="Times New Roman" panose="02020603050405020304" pitchFamily="18" charset="0"/>
                <a:cs typeface="Times New Roman" panose="02020603050405020304" pitchFamily="18" charset="0"/>
              </a:rPr>
              <a:t>The text classification model is built using BERT, CNN, and GRU.</a:t>
            </a:r>
          </a:p>
          <a:p>
            <a:pPr marL="457200" marR="0" lvl="0" indent="-45720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b="0" i="0" u="none" strike="noStrike" cap="none" normalizeH="0" baseline="0" dirty="0">
                <a:ln>
                  <a:noFill/>
                </a:ln>
                <a:effectLst/>
                <a:latin typeface="Times New Roman" panose="02020603050405020304" pitchFamily="18" charset="0"/>
                <a:cs typeface="Times New Roman" panose="02020603050405020304" pitchFamily="18" charset="0"/>
              </a:rPr>
              <a:t>BERT is used for contextual embeddings, CNN extracts local features, and GRU captures sequential dependencies.</a:t>
            </a:r>
          </a:p>
          <a:p>
            <a:pPr marL="457200" marR="0" lvl="0" indent="-45720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altLang="en-US" dirty="0">
                <a:latin typeface="Times New Roman" panose="02020603050405020304" pitchFamily="18" charset="0"/>
                <a:cs typeface="Times New Roman" panose="02020603050405020304" pitchFamily="18" charset="0"/>
              </a:rPr>
              <a:t>The Text model train  with ISOT ,</a:t>
            </a:r>
            <a:r>
              <a:rPr lang="en-US" altLang="en-US" dirty="0" err="1">
                <a:latin typeface="Times New Roman" panose="02020603050405020304" pitchFamily="18" charset="0"/>
                <a:cs typeface="Times New Roman" panose="02020603050405020304" pitchFamily="18" charset="0"/>
              </a:rPr>
              <a:t>Fakenews</a:t>
            </a:r>
            <a:r>
              <a:rPr lang="en-US" altLang="en-US" dirty="0">
                <a:latin typeface="Times New Roman" panose="02020603050405020304" pitchFamily="18" charset="0"/>
                <a:cs typeface="Times New Roman" panose="02020603050405020304" pitchFamily="18" charset="0"/>
              </a:rPr>
              <a:t> net  </a:t>
            </a:r>
            <a:r>
              <a:rPr lang="en-US" altLang="en-US" dirty="0" err="1">
                <a:latin typeface="Times New Roman" panose="02020603050405020304" pitchFamily="18" charset="0"/>
                <a:cs typeface="Times New Roman" panose="02020603050405020304" pitchFamily="18" charset="0"/>
              </a:rPr>
              <a:t>datsets</a:t>
            </a:r>
            <a:endParaRPr kumimoji="0" lang="en-US" altLang="en-US" b="0" i="0" u="none" strike="noStrike" cap="none" normalizeH="0" baseline="0" dirty="0">
              <a:ln>
                <a:noFill/>
              </a:ln>
              <a:effectLst/>
              <a:latin typeface="Times New Roman" panose="02020603050405020304" pitchFamily="18" charset="0"/>
              <a:cs typeface="Times New Roman" panose="02020603050405020304" pitchFamily="18" charset="0"/>
            </a:endParaRPr>
          </a:p>
          <a:p>
            <a:pPr marL="457200" marR="0" lvl="0" indent="-45720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b="0" i="0" u="none" strike="noStrike" cap="none" normalizeH="0" baseline="0" dirty="0">
                <a:ln>
                  <a:noFill/>
                </a:ln>
                <a:effectLst/>
                <a:latin typeface="Times New Roman" panose="02020603050405020304" pitchFamily="18" charset="0"/>
                <a:cs typeface="Times New Roman" panose="02020603050405020304" pitchFamily="18" charset="0"/>
              </a:rPr>
              <a:t>The trained model is saved as </a:t>
            </a:r>
            <a:r>
              <a:rPr kumimoji="0" lang="en-US" altLang="en-US" b="0" i="0" u="none" strike="noStrike" cap="none" normalizeH="0" baseline="0" dirty="0" err="1">
                <a:ln>
                  <a:noFill/>
                </a:ln>
                <a:effectLst/>
                <a:latin typeface="Times New Roman" panose="02020603050405020304" pitchFamily="18" charset="0"/>
                <a:cs typeface="Times New Roman" panose="02020603050405020304" pitchFamily="18" charset="0"/>
              </a:rPr>
              <a:t>text_model.pth</a:t>
            </a:r>
            <a:r>
              <a:rPr kumimoji="0" lang="en-US" altLang="en-US" b="0" i="0" u="none" strike="noStrike" cap="none" normalizeH="0" baseline="0" dirty="0">
                <a:ln>
                  <a:noFill/>
                </a:ln>
                <a:effectLst/>
                <a:latin typeface="Times New Roman" panose="02020603050405020304" pitchFamily="18" charset="0"/>
                <a:cs typeface="Times New Roman" panose="02020603050405020304" pitchFamily="18" charset="0"/>
              </a:rPr>
              <a:t>.</a:t>
            </a:r>
          </a:p>
          <a:p>
            <a:pPr marL="514350" marR="0" lvl="0" indent="-514350" algn="just" defTabSz="914400" rtl="0" eaLnBrk="0" fontAlgn="base" latinLnBrk="0" hangingPunct="0">
              <a:lnSpc>
                <a:spcPct val="100000"/>
              </a:lnSpc>
              <a:spcBef>
                <a:spcPct val="0"/>
              </a:spcBef>
              <a:spcAft>
                <a:spcPct val="0"/>
              </a:spcAft>
              <a:buClrTx/>
              <a:buSzTx/>
              <a:buFont typeface="+mj-lt"/>
              <a:buAutoNum type="arabicPeriod" startAt="2"/>
              <a:tabLst/>
            </a:pPr>
            <a:r>
              <a:rPr kumimoji="0" lang="en-US" altLang="en-US" b="1" i="0" u="none" strike="noStrike" cap="none" normalizeH="0" baseline="0" dirty="0">
                <a:ln>
                  <a:noFill/>
                </a:ln>
                <a:effectLst/>
                <a:latin typeface="Times New Roman" panose="02020603050405020304" pitchFamily="18" charset="0"/>
                <a:cs typeface="Times New Roman" panose="02020603050405020304" pitchFamily="18" charset="0"/>
              </a:rPr>
              <a:t>Image Model Implementation:</a:t>
            </a:r>
          </a:p>
          <a:p>
            <a:pPr marL="457200" marR="0" lvl="0" indent="-45720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b="0" i="0" u="none" strike="noStrike" cap="none" normalizeH="0" baseline="0" dirty="0">
                <a:ln>
                  <a:noFill/>
                </a:ln>
                <a:effectLst/>
                <a:latin typeface="Times New Roman" panose="02020603050405020304" pitchFamily="18" charset="0"/>
                <a:cs typeface="Times New Roman" panose="02020603050405020304" pitchFamily="18" charset="0"/>
              </a:rPr>
              <a:t>The image classification model uses </a:t>
            </a:r>
            <a:r>
              <a:rPr kumimoji="0" lang="en-US" altLang="en-US" b="0" i="0" u="none" strike="noStrike" cap="none" normalizeH="0" baseline="0" dirty="0" err="1">
                <a:ln>
                  <a:noFill/>
                </a:ln>
                <a:effectLst/>
                <a:latin typeface="Times New Roman" panose="02020603050405020304" pitchFamily="18" charset="0"/>
                <a:cs typeface="Times New Roman" panose="02020603050405020304" pitchFamily="18" charset="0"/>
              </a:rPr>
              <a:t>ResNet</a:t>
            </a:r>
            <a:r>
              <a:rPr kumimoji="0" lang="en-US" altLang="en-US" b="0" i="0" u="none" strike="noStrike" cap="none" normalizeH="0" baseline="0" dirty="0">
                <a:ln>
                  <a:noFill/>
                </a:ln>
                <a:effectLst/>
                <a:latin typeface="Times New Roman" panose="02020603050405020304" pitchFamily="18" charset="0"/>
                <a:cs typeface="Times New Roman" panose="02020603050405020304" pitchFamily="18" charset="0"/>
              </a:rPr>
              <a:t> / </a:t>
            </a:r>
            <a:r>
              <a:rPr kumimoji="0" lang="en-US" altLang="en-US" b="0" i="0" u="none" strike="noStrike" cap="none" normalizeH="0" baseline="0" dirty="0" err="1">
                <a:ln>
                  <a:noFill/>
                </a:ln>
                <a:effectLst/>
                <a:latin typeface="Times New Roman" panose="02020603050405020304" pitchFamily="18" charset="0"/>
                <a:cs typeface="Times New Roman" panose="02020603050405020304" pitchFamily="18" charset="0"/>
              </a:rPr>
              <a:t>EfficientNet</a:t>
            </a:r>
            <a:r>
              <a:rPr kumimoji="0" lang="en-US" altLang="en-US" b="0" i="0" u="none" strike="noStrike" cap="none" normalizeH="0" baseline="0" dirty="0">
                <a:ln>
                  <a:noFill/>
                </a:ln>
                <a:effectLst/>
                <a:latin typeface="Times New Roman" panose="02020603050405020304" pitchFamily="18" charset="0"/>
                <a:cs typeface="Times New Roman" panose="02020603050405020304" pitchFamily="18" charset="0"/>
              </a:rPr>
              <a:t> with CBAM attention mechanism.</a:t>
            </a:r>
          </a:p>
          <a:p>
            <a:pPr marL="457200" marR="0" lvl="0" indent="-45720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b="0" i="0" u="none" strike="noStrike" cap="none" normalizeH="0" baseline="0" dirty="0">
                <a:ln>
                  <a:noFill/>
                </a:ln>
                <a:effectLst/>
                <a:latin typeface="Times New Roman" panose="02020603050405020304" pitchFamily="18" charset="0"/>
                <a:cs typeface="Times New Roman" panose="02020603050405020304" pitchFamily="18" charset="0"/>
              </a:rPr>
              <a:t>It extracts deep visual features and detects AI-generated or manipulated images.</a:t>
            </a:r>
          </a:p>
          <a:p>
            <a:pPr marL="457200" marR="0" lvl="0" indent="-45720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b="0" i="0" u="none" strike="noStrike" cap="none" normalizeH="0" baseline="0" dirty="0">
                <a:ln>
                  <a:noFill/>
                </a:ln>
                <a:effectLst/>
                <a:latin typeface="Times New Roman" panose="02020603050405020304" pitchFamily="18" charset="0"/>
                <a:cs typeface="Times New Roman" panose="02020603050405020304" pitchFamily="18" charset="0"/>
              </a:rPr>
              <a:t>The Image model trained with </a:t>
            </a:r>
            <a:r>
              <a:rPr kumimoji="0" lang="en-US" altLang="en-US" b="0" i="0" u="none" strike="noStrike" cap="none" normalizeH="0" baseline="0" dirty="0" err="1">
                <a:ln>
                  <a:noFill/>
                </a:ln>
                <a:effectLst/>
                <a:latin typeface="Times New Roman" panose="02020603050405020304" pitchFamily="18" charset="0"/>
                <a:cs typeface="Times New Roman" panose="02020603050405020304" pitchFamily="18" charset="0"/>
              </a:rPr>
              <a:t>deepfake,ai</a:t>
            </a:r>
            <a:r>
              <a:rPr kumimoji="0" lang="en-US" altLang="en-US" b="0" i="0" u="none" strike="noStrike" cap="none" normalizeH="0" baseline="0" dirty="0">
                <a:ln>
                  <a:noFill/>
                </a:ln>
                <a:effectLst/>
                <a:latin typeface="Times New Roman" panose="02020603050405020304" pitchFamily="18" charset="0"/>
                <a:cs typeface="Times New Roman" panose="02020603050405020304" pitchFamily="18" charset="0"/>
              </a:rPr>
              <a:t> </a:t>
            </a:r>
            <a:r>
              <a:rPr kumimoji="0" lang="en-US" altLang="en-US" b="0" i="0" u="none" strike="noStrike" cap="none" normalizeH="0" baseline="0" dirty="0" err="1">
                <a:ln>
                  <a:noFill/>
                </a:ln>
                <a:effectLst/>
                <a:latin typeface="Times New Roman" panose="02020603050405020304" pitchFamily="18" charset="0"/>
                <a:cs typeface="Times New Roman" panose="02020603050405020304" pitchFamily="18" charset="0"/>
              </a:rPr>
              <a:t>generated,morphed</a:t>
            </a:r>
            <a:r>
              <a:rPr kumimoji="0" lang="en-US" altLang="en-US" b="0" i="0" u="none" strike="noStrike" cap="none" normalizeH="0" baseline="0" dirty="0">
                <a:ln>
                  <a:noFill/>
                </a:ln>
                <a:effectLst/>
                <a:latin typeface="Times New Roman" panose="02020603050405020304" pitchFamily="18" charset="0"/>
                <a:cs typeface="Times New Roman" panose="02020603050405020304" pitchFamily="18" charset="0"/>
              </a:rPr>
              <a:t> image datasets.</a:t>
            </a:r>
          </a:p>
          <a:p>
            <a:pPr marL="457200" marR="0" lvl="0" indent="-45720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b="0" i="0" u="none" strike="noStrike" cap="none" normalizeH="0" baseline="0" dirty="0">
                <a:ln>
                  <a:noFill/>
                </a:ln>
                <a:effectLst/>
                <a:latin typeface="Times New Roman" panose="02020603050405020304" pitchFamily="18" charset="0"/>
                <a:cs typeface="Times New Roman" panose="02020603050405020304" pitchFamily="18" charset="0"/>
              </a:rPr>
              <a:t>The trained model is saved as </a:t>
            </a:r>
            <a:r>
              <a:rPr kumimoji="0" lang="en-US" altLang="en-US" b="0" i="0" u="none" strike="noStrike" cap="none" normalizeH="0" baseline="0" dirty="0" err="1">
                <a:ln>
                  <a:noFill/>
                </a:ln>
                <a:effectLst/>
                <a:latin typeface="Times New Roman" panose="02020603050405020304" pitchFamily="18" charset="0"/>
                <a:cs typeface="Times New Roman" panose="02020603050405020304" pitchFamily="18" charset="0"/>
              </a:rPr>
              <a:t>image_model.pth</a:t>
            </a:r>
            <a:r>
              <a:rPr kumimoji="0" lang="en-US" altLang="en-US" b="0" i="0" u="none" strike="noStrike" cap="none" normalizeH="0" baseline="0" dirty="0">
                <a:ln>
                  <a:noFill/>
                </a:ln>
                <a:effectLst/>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5656434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1">
            <a:extLst>
              <a:ext uri="{FF2B5EF4-FFF2-40B4-BE49-F238E27FC236}">
                <a16:creationId xmlns:a16="http://schemas.microsoft.com/office/drawing/2014/main" id="{23B5DEFC-C26C-291E-3C7B-A8CAFAC78CFA}"/>
              </a:ext>
            </a:extLst>
          </p:cNvPr>
          <p:cNvSpPr>
            <a:spLocks noGrp="1" noChangeArrowheads="1"/>
          </p:cNvSpPr>
          <p:nvPr>
            <p:ph type="body" idx="1"/>
          </p:nvPr>
        </p:nvSpPr>
        <p:spPr bwMode="auto">
          <a:xfrm>
            <a:off x="533400" y="1225451"/>
            <a:ext cx="16611600" cy="53399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514350" marR="0" lvl="0" indent="-514350" algn="just" defTabSz="914400" rtl="0" eaLnBrk="0" fontAlgn="base" latinLnBrk="0" hangingPunct="0">
              <a:lnSpc>
                <a:spcPct val="100000"/>
              </a:lnSpc>
              <a:spcBef>
                <a:spcPct val="0"/>
              </a:spcBef>
              <a:spcAft>
                <a:spcPct val="0"/>
              </a:spcAft>
              <a:buClrTx/>
              <a:buSzTx/>
              <a:buFont typeface="+mj-lt"/>
              <a:buAutoNum type="arabicPeriod" startAt="4"/>
              <a:tabLst/>
            </a:pPr>
            <a:r>
              <a:rPr kumimoji="0" lang="en-US" altLang="en-US" b="1" i="0" u="none" strike="noStrike" cap="none" normalizeH="0" baseline="0" dirty="0">
                <a:ln>
                  <a:noFill/>
                </a:ln>
                <a:effectLst/>
                <a:latin typeface="Times New Roman" panose="02020603050405020304" pitchFamily="18" charset="0"/>
                <a:cs typeface="Times New Roman" panose="02020603050405020304" pitchFamily="18" charset="0"/>
              </a:rPr>
              <a:t>Model Integration:</a:t>
            </a:r>
          </a:p>
          <a:p>
            <a:pPr marL="457200" marR="0" lvl="0" indent="-45720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b="0" i="0" u="none" strike="noStrike" cap="none" normalizeH="0" baseline="0" dirty="0">
                <a:ln>
                  <a:noFill/>
                </a:ln>
                <a:effectLst/>
                <a:latin typeface="Times New Roman" panose="02020603050405020304" pitchFamily="18" charset="0"/>
                <a:cs typeface="Times New Roman" panose="02020603050405020304" pitchFamily="18" charset="0"/>
              </a:rPr>
              <a:t>Both models are loaded using separate modules (text_model.py and image_model.py) and used for prediction.</a:t>
            </a:r>
          </a:p>
          <a:p>
            <a:pPr marL="514350" marR="0" lvl="0" indent="-514350" algn="just" defTabSz="914400" rtl="0" eaLnBrk="0" fontAlgn="base" latinLnBrk="0" hangingPunct="0">
              <a:lnSpc>
                <a:spcPct val="100000"/>
              </a:lnSpc>
              <a:spcBef>
                <a:spcPct val="0"/>
              </a:spcBef>
              <a:spcAft>
                <a:spcPct val="0"/>
              </a:spcAft>
              <a:buClrTx/>
              <a:buSzTx/>
              <a:buFont typeface="+mj-lt"/>
              <a:buAutoNum type="arabicPeriod" startAt="5"/>
              <a:tabLst/>
            </a:pPr>
            <a:r>
              <a:rPr kumimoji="0" lang="en-US" altLang="en-US" b="1" i="0" u="none" strike="noStrike" cap="none" normalizeH="0" baseline="0" dirty="0">
                <a:ln>
                  <a:noFill/>
                </a:ln>
                <a:effectLst/>
                <a:latin typeface="Times New Roman" panose="02020603050405020304" pitchFamily="18" charset="0"/>
                <a:cs typeface="Times New Roman" panose="02020603050405020304" pitchFamily="18" charset="0"/>
              </a:rPr>
              <a:t>Threshold Calibration</a:t>
            </a:r>
            <a:r>
              <a:rPr kumimoji="0" lang="en-US" altLang="en-US" b="0" i="0" u="none" strike="noStrike" cap="none" normalizeH="0" baseline="0" dirty="0">
                <a:ln>
                  <a:noFill/>
                </a:ln>
                <a:effectLst/>
                <a:latin typeface="Times New Roman" panose="02020603050405020304" pitchFamily="18" charset="0"/>
                <a:cs typeface="Times New Roman" panose="02020603050405020304" pitchFamily="18" charset="0"/>
              </a:rPr>
              <a:t>:</a:t>
            </a:r>
          </a:p>
          <a:p>
            <a:pPr marL="514350" marR="0" lvl="0" indent="-5143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b="0" i="0" u="none" strike="noStrike" cap="none" normalizeH="0" baseline="0" dirty="0">
                <a:ln>
                  <a:noFill/>
                </a:ln>
                <a:effectLst/>
                <a:latin typeface="Times New Roman" panose="02020603050405020304" pitchFamily="18" charset="0"/>
                <a:cs typeface="Times New Roman" panose="02020603050405020304" pitchFamily="18" charset="0"/>
              </a:rPr>
              <a:t>A calibration script (calibrate_threshold.py) is used to optimize decision thresholds and improve accuracy.</a:t>
            </a:r>
          </a:p>
          <a:p>
            <a:pPr marL="514350" marR="0" lvl="0" indent="-514350" algn="just" defTabSz="914400" rtl="0" eaLnBrk="0" fontAlgn="base" latinLnBrk="0" hangingPunct="0">
              <a:lnSpc>
                <a:spcPct val="100000"/>
              </a:lnSpc>
              <a:spcBef>
                <a:spcPct val="0"/>
              </a:spcBef>
              <a:spcAft>
                <a:spcPct val="0"/>
              </a:spcAft>
              <a:buClrTx/>
              <a:buSzTx/>
              <a:buFont typeface="+mj-lt"/>
              <a:buAutoNum type="arabicPeriod" startAt="6"/>
              <a:tabLst/>
            </a:pPr>
            <a:r>
              <a:rPr kumimoji="0" lang="en-US" altLang="en-US" b="1" i="0" u="none" strike="noStrike" cap="none" normalizeH="0" baseline="0" dirty="0">
                <a:ln>
                  <a:noFill/>
                </a:ln>
                <a:effectLst/>
                <a:latin typeface="Times New Roman" panose="02020603050405020304" pitchFamily="18" charset="0"/>
                <a:cs typeface="Times New Roman" panose="02020603050405020304" pitchFamily="18" charset="0"/>
              </a:rPr>
              <a:t>Main Application:</a:t>
            </a:r>
          </a:p>
          <a:p>
            <a:pPr marL="457200" marR="0" lvl="0" indent="-45720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b="0" i="0" u="none" strike="noStrike" cap="none" normalizeH="0" baseline="0" dirty="0">
                <a:ln>
                  <a:noFill/>
                </a:ln>
                <a:effectLst/>
                <a:latin typeface="Times New Roman" panose="02020603050405020304" pitchFamily="18" charset="0"/>
                <a:cs typeface="Times New Roman" panose="02020603050405020304" pitchFamily="18" charset="0"/>
              </a:rPr>
              <a:t>A user interface is developed using </a:t>
            </a:r>
            <a:r>
              <a:rPr kumimoji="0" lang="en-US" altLang="en-US" b="0" i="0" u="none" strike="noStrike" cap="none" normalizeH="0" baseline="0" dirty="0" err="1">
                <a:ln>
                  <a:noFill/>
                </a:ln>
                <a:effectLst/>
                <a:latin typeface="Times New Roman" panose="02020603050405020304" pitchFamily="18" charset="0"/>
                <a:cs typeface="Times New Roman" panose="02020603050405020304" pitchFamily="18" charset="0"/>
              </a:rPr>
              <a:t>Streamlit</a:t>
            </a:r>
            <a:r>
              <a:rPr kumimoji="0" lang="en-US" altLang="en-US" b="0" i="0" u="none" strike="noStrike" cap="none" normalizeH="0" baseline="0" dirty="0">
                <a:ln>
                  <a:noFill/>
                </a:ln>
                <a:effectLst/>
                <a:latin typeface="Times New Roman" panose="02020603050405020304" pitchFamily="18" charset="0"/>
                <a:cs typeface="Times New Roman" panose="02020603050405020304" pitchFamily="18" charset="0"/>
              </a:rPr>
              <a:t> (main.py) to accept text and image inputs and display results.</a:t>
            </a:r>
          </a:p>
          <a:p>
            <a:pPr marL="514350" marR="0" lvl="0" indent="-514350" algn="just" defTabSz="914400" rtl="0" eaLnBrk="0" fontAlgn="base" latinLnBrk="0" hangingPunct="0">
              <a:lnSpc>
                <a:spcPct val="100000"/>
              </a:lnSpc>
              <a:spcBef>
                <a:spcPct val="0"/>
              </a:spcBef>
              <a:spcAft>
                <a:spcPct val="0"/>
              </a:spcAft>
              <a:buClrTx/>
              <a:buSzTx/>
              <a:buFont typeface="+mj-lt"/>
              <a:buAutoNum type="arabicPeriod" startAt="7"/>
              <a:tabLst/>
            </a:pPr>
            <a:r>
              <a:rPr kumimoji="0" lang="en-US" altLang="en-US" b="1" i="0" u="none" strike="noStrike" cap="none" normalizeH="0" baseline="0" dirty="0">
                <a:ln>
                  <a:noFill/>
                </a:ln>
                <a:effectLst/>
                <a:latin typeface="Times New Roman" panose="02020603050405020304" pitchFamily="18" charset="0"/>
                <a:cs typeface="Times New Roman" panose="02020603050405020304" pitchFamily="18" charset="0"/>
              </a:rPr>
              <a:t>Execution Process:</a:t>
            </a:r>
          </a:p>
          <a:p>
            <a:pPr marL="457200" marR="0" lvl="0" indent="-45720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b="0" i="0" u="none" strike="noStrike" cap="none" normalizeH="0" baseline="0" dirty="0">
                <a:ln>
                  <a:noFill/>
                </a:ln>
                <a:effectLst/>
                <a:latin typeface="Times New Roman" panose="02020603050405020304" pitchFamily="18" charset="0"/>
                <a:cs typeface="Times New Roman" panose="02020603050405020304" pitchFamily="18" charset="0"/>
              </a:rPr>
              <a:t>Install dependencies, run calibration, and launch the application using</a:t>
            </a:r>
          </a:p>
        </p:txBody>
      </p:sp>
    </p:spTree>
    <p:extLst>
      <p:ext uri="{BB962C8B-B14F-4D97-AF65-F5344CB8AC3E}">
        <p14:creationId xmlns:p14="http://schemas.microsoft.com/office/powerpoint/2010/main" val="181606426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B100F8-76C0-91E4-A018-5A41D6C6749E}"/>
              </a:ext>
            </a:extLst>
          </p:cNvPr>
          <p:cNvSpPr>
            <a:spLocks noGrp="1"/>
          </p:cNvSpPr>
          <p:nvPr>
            <p:ph type="title"/>
          </p:nvPr>
        </p:nvSpPr>
        <p:spPr>
          <a:xfrm>
            <a:off x="609600" y="508001"/>
            <a:ext cx="14017404" cy="830997"/>
          </a:xfrm>
        </p:spPr>
        <p:txBody>
          <a:bodyPr/>
          <a:lstStyle/>
          <a:p>
            <a:r>
              <a:rPr lang="en-IN" sz="5400" dirty="0"/>
              <a:t>RESULTS</a:t>
            </a:r>
          </a:p>
        </p:txBody>
      </p:sp>
      <p:sp>
        <p:nvSpPr>
          <p:cNvPr id="4" name="Rectangle 1">
            <a:extLst>
              <a:ext uri="{FF2B5EF4-FFF2-40B4-BE49-F238E27FC236}">
                <a16:creationId xmlns:a16="http://schemas.microsoft.com/office/drawing/2014/main" id="{0CEA598A-CEFA-7DD3-4EDA-3FCCD8360255}"/>
              </a:ext>
            </a:extLst>
          </p:cNvPr>
          <p:cNvSpPr>
            <a:spLocks noGrp="1" noChangeArrowheads="1"/>
          </p:cNvSpPr>
          <p:nvPr>
            <p:ph type="body" idx="1"/>
          </p:nvPr>
        </p:nvSpPr>
        <p:spPr bwMode="auto">
          <a:xfrm>
            <a:off x="838200" y="-945787"/>
            <a:ext cx="14173200" cy="115416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lgn="l" rtl="0" eaLnBrk="0" fontAlgn="base" hangingPunct="0">
              <a:spcBef>
                <a:spcPct val="0"/>
              </a:spcBef>
              <a:spcAft>
                <a:spcPct val="0"/>
              </a:spcAft>
            </a:pPr>
            <a:endParaRPr lang="en-US" altLang="en-US" dirty="0">
              <a:latin typeface="Times New Roman" panose="02020603050405020304" pitchFamily="18" charset="0"/>
              <a:cs typeface="Times New Roman" panose="02020603050405020304" pitchFamily="18" charset="0"/>
            </a:endParaRPr>
          </a:p>
          <a:p>
            <a:pPr lvl="0" algn="l" rtl="0" eaLnBrk="0" fontAlgn="base" hangingPunct="0">
              <a:spcBef>
                <a:spcPct val="0"/>
              </a:spcBef>
              <a:spcAft>
                <a:spcPct val="0"/>
              </a:spcAft>
            </a:pPr>
            <a:endParaRPr lang="en-US" altLang="en-US" dirty="0">
              <a:latin typeface="Times New Roman" panose="02020603050405020304" pitchFamily="18" charset="0"/>
              <a:cs typeface="Times New Roman" panose="02020603050405020304" pitchFamily="18" charset="0"/>
            </a:endParaRPr>
          </a:p>
          <a:p>
            <a:pPr lvl="0" algn="l" rtl="0" eaLnBrk="0" fontAlgn="base" hangingPunct="0">
              <a:spcBef>
                <a:spcPct val="0"/>
              </a:spcBef>
              <a:spcAft>
                <a:spcPct val="0"/>
              </a:spcAft>
            </a:pPr>
            <a:endParaRPr lang="en-US" altLang="en-US" b="1" dirty="0">
              <a:latin typeface="Times New Roman" panose="02020603050405020304" pitchFamily="18" charset="0"/>
              <a:cs typeface="Times New Roman" panose="02020603050405020304" pitchFamily="18" charset="0"/>
            </a:endParaRPr>
          </a:p>
          <a:p>
            <a:pPr lvl="0" algn="l" rtl="0" eaLnBrk="0" fontAlgn="base" hangingPunct="0">
              <a:spcBef>
                <a:spcPct val="0"/>
              </a:spcBef>
              <a:spcAft>
                <a:spcPct val="0"/>
              </a:spcAft>
            </a:pPr>
            <a:endParaRPr lang="en-US" altLang="en-US" b="1" dirty="0">
              <a:latin typeface="Times New Roman" panose="02020603050405020304" pitchFamily="18" charset="0"/>
              <a:cs typeface="Times New Roman" panose="02020603050405020304" pitchFamily="18" charset="0"/>
            </a:endParaRPr>
          </a:p>
          <a:p>
            <a:pPr lvl="0" algn="l" rtl="0" eaLnBrk="0" fontAlgn="base" hangingPunct="0">
              <a:spcBef>
                <a:spcPct val="0"/>
              </a:spcBef>
              <a:spcAft>
                <a:spcPct val="0"/>
              </a:spcAft>
            </a:pPr>
            <a:endParaRPr lang="en-US" altLang="en-US" b="1" dirty="0">
              <a:latin typeface="Times New Roman" panose="02020603050405020304" pitchFamily="18" charset="0"/>
              <a:cs typeface="Times New Roman" panose="02020603050405020304" pitchFamily="18" charset="0"/>
            </a:endParaRPr>
          </a:p>
          <a:p>
            <a:pPr lvl="0" algn="l" rtl="0" eaLnBrk="0" fontAlgn="base" hangingPunct="0">
              <a:spcBef>
                <a:spcPct val="0"/>
              </a:spcBef>
              <a:spcAft>
                <a:spcPct val="0"/>
              </a:spcAft>
            </a:pPr>
            <a:endParaRPr lang="en-US" altLang="en-US" b="1" dirty="0">
              <a:latin typeface="Times New Roman" panose="02020603050405020304" pitchFamily="18" charset="0"/>
              <a:cs typeface="Times New Roman" panose="02020603050405020304" pitchFamily="18" charset="0"/>
            </a:endParaRPr>
          </a:p>
          <a:p>
            <a:pPr lvl="0" algn="l" rtl="0" eaLnBrk="0" fontAlgn="base" hangingPunct="0">
              <a:spcBef>
                <a:spcPct val="0"/>
              </a:spcBef>
              <a:spcAft>
                <a:spcPct val="0"/>
              </a:spcAft>
            </a:pPr>
            <a:r>
              <a:rPr lang="en-US" altLang="en-US" b="1" dirty="0">
                <a:latin typeface="Times New Roman" panose="02020603050405020304" pitchFamily="18" charset="0"/>
                <a:cs typeface="Times New Roman" panose="02020603050405020304" pitchFamily="18" charset="0"/>
              </a:rPr>
              <a:t>Developed a Multimodal Fake News Detection System combining: </a:t>
            </a:r>
          </a:p>
          <a:p>
            <a:pPr marL="457200" lvl="0" indent="-457200" algn="l" rtl="0" eaLnBrk="0" fontAlgn="base" hangingPunct="0">
              <a:spcBef>
                <a:spcPct val="0"/>
              </a:spcBef>
              <a:spcAft>
                <a:spcPct val="0"/>
              </a:spcAft>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Text Model (BERT + CNN + GRU) </a:t>
            </a:r>
          </a:p>
          <a:p>
            <a:pPr marL="457200" lvl="0" indent="-457200" algn="l" rtl="0" eaLnBrk="0" fontAlgn="base" hangingPunct="0">
              <a:spcBef>
                <a:spcPct val="0"/>
              </a:spcBef>
              <a:spcAft>
                <a:spcPct val="0"/>
              </a:spcAft>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 Image Model (RESNET+EFFICIENT NET+CBAM) </a:t>
            </a:r>
          </a:p>
          <a:p>
            <a:pPr lvl="0" algn="l" rtl="0" eaLnBrk="0" fontAlgn="base" hangingPunct="0">
              <a:spcBef>
                <a:spcPct val="0"/>
              </a:spcBef>
              <a:spcAft>
                <a:spcPct val="0"/>
              </a:spcAft>
            </a:pPr>
            <a:r>
              <a:rPr lang="en-US" altLang="en-US" b="1" dirty="0">
                <a:latin typeface="Times New Roman" panose="02020603050405020304" pitchFamily="18" charset="0"/>
                <a:cs typeface="Times New Roman" panose="02020603050405020304" pitchFamily="18" charset="0"/>
              </a:rPr>
              <a:t> Performance: </a:t>
            </a:r>
          </a:p>
          <a:p>
            <a:pPr marL="457200" lvl="0" indent="-457200" algn="l" rtl="0" eaLnBrk="0" fontAlgn="base" hangingPunct="0">
              <a:spcBef>
                <a:spcPct val="0"/>
              </a:spcBef>
              <a:spcAft>
                <a:spcPct val="0"/>
              </a:spcAft>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Text Model Accuracy: </a:t>
            </a:r>
            <a:r>
              <a:rPr lang="en-US" altLang="en-US" b="1" dirty="0">
                <a:latin typeface="Times New Roman" panose="02020603050405020304" pitchFamily="18" charset="0"/>
                <a:cs typeface="Times New Roman" panose="02020603050405020304" pitchFamily="18" charset="0"/>
              </a:rPr>
              <a:t>~85–95%</a:t>
            </a:r>
            <a:r>
              <a:rPr lang="en-US" altLang="en-US" dirty="0">
                <a:latin typeface="Times New Roman" panose="02020603050405020304" pitchFamily="18" charset="0"/>
                <a:cs typeface="Times New Roman" panose="02020603050405020304" pitchFamily="18" charset="0"/>
              </a:rPr>
              <a:t> </a:t>
            </a:r>
          </a:p>
          <a:p>
            <a:pPr marL="457200" lvl="0" indent="-457200" algn="l" rtl="0" eaLnBrk="0" fontAlgn="base" hangingPunct="0">
              <a:spcBef>
                <a:spcPct val="0"/>
              </a:spcBef>
              <a:spcAft>
                <a:spcPct val="0"/>
              </a:spcAft>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Image Model Accuracy: </a:t>
            </a:r>
            <a:r>
              <a:rPr lang="en-US" altLang="en-US" b="1" dirty="0">
                <a:latin typeface="Times New Roman" panose="02020603050405020304" pitchFamily="18" charset="0"/>
                <a:cs typeface="Times New Roman" panose="02020603050405020304" pitchFamily="18" charset="0"/>
              </a:rPr>
              <a:t>~80–90%</a:t>
            </a:r>
            <a:r>
              <a:rPr lang="en-US" altLang="en-US" dirty="0">
                <a:latin typeface="Times New Roman" panose="02020603050405020304" pitchFamily="18" charset="0"/>
                <a:cs typeface="Times New Roman" panose="02020603050405020304" pitchFamily="18" charset="0"/>
              </a:rPr>
              <a:t> </a:t>
            </a:r>
          </a:p>
          <a:p>
            <a:pPr lvl="0" algn="l" rtl="0" eaLnBrk="0" fontAlgn="base" hangingPunct="0">
              <a:spcBef>
                <a:spcPct val="0"/>
              </a:spcBef>
              <a:spcAft>
                <a:spcPct val="0"/>
              </a:spcAft>
            </a:pPr>
            <a:r>
              <a:rPr lang="en-US" altLang="en-US" b="1" dirty="0">
                <a:latin typeface="Times New Roman" panose="02020603050405020304" pitchFamily="18" charset="0"/>
                <a:cs typeface="Times New Roman" panose="02020603050405020304" pitchFamily="18" charset="0"/>
              </a:rPr>
              <a:t>Threshold Optimization:</a:t>
            </a:r>
            <a:r>
              <a:rPr lang="en-US" altLang="en-US" dirty="0">
                <a:latin typeface="Times New Roman" panose="02020603050405020304" pitchFamily="18" charset="0"/>
                <a:cs typeface="Times New Roman" panose="02020603050405020304" pitchFamily="18" charset="0"/>
              </a:rPr>
              <a:t> </a:t>
            </a:r>
          </a:p>
          <a:p>
            <a:pPr marL="457200" lvl="0" indent="-457200" algn="l" rtl="0" eaLnBrk="0" fontAlgn="base" hangingPunct="0">
              <a:spcBef>
                <a:spcPct val="0"/>
              </a:spcBef>
              <a:spcAft>
                <a:spcPct val="0"/>
              </a:spcAft>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Applied calibration (calibrate_threshold.py) </a:t>
            </a:r>
          </a:p>
          <a:p>
            <a:pPr marL="457200" lvl="0" indent="-457200" algn="l" rtl="0" eaLnBrk="0" fontAlgn="base" hangingPunct="0">
              <a:spcBef>
                <a:spcPct val="0"/>
              </a:spcBef>
              <a:spcAft>
                <a:spcPct val="0"/>
              </a:spcAft>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Improved confidence &amp; reduced false positives </a:t>
            </a:r>
          </a:p>
          <a:p>
            <a:pPr lvl="0" algn="l" rtl="0" eaLnBrk="0" fontAlgn="base" hangingPunct="0">
              <a:spcBef>
                <a:spcPct val="0"/>
              </a:spcBef>
              <a:spcAft>
                <a:spcPct val="0"/>
              </a:spcAft>
            </a:pPr>
            <a:r>
              <a:rPr lang="en-US" altLang="en-US" b="1" dirty="0">
                <a:latin typeface="Times New Roman" panose="02020603050405020304" pitchFamily="18" charset="0"/>
                <a:cs typeface="Times New Roman" panose="02020603050405020304" pitchFamily="18" charset="0"/>
              </a:rPr>
              <a:t>System Output (</a:t>
            </a:r>
            <a:r>
              <a:rPr lang="en-US" altLang="en-US" b="1" dirty="0" err="1">
                <a:latin typeface="Times New Roman" panose="02020603050405020304" pitchFamily="18" charset="0"/>
                <a:cs typeface="Times New Roman" panose="02020603050405020304" pitchFamily="18" charset="0"/>
              </a:rPr>
              <a:t>Streamlit</a:t>
            </a:r>
            <a:r>
              <a:rPr lang="en-US" altLang="en-US" b="1" dirty="0">
                <a:latin typeface="Times New Roman" panose="02020603050405020304" pitchFamily="18" charset="0"/>
                <a:cs typeface="Times New Roman" panose="02020603050405020304" pitchFamily="18" charset="0"/>
              </a:rPr>
              <a:t> App): </a:t>
            </a:r>
          </a:p>
          <a:p>
            <a:pPr marL="457200" lvl="0" indent="-457200" algn="l" rtl="0" eaLnBrk="0" fontAlgn="base" hangingPunct="0">
              <a:spcBef>
                <a:spcPct val="0"/>
              </a:spcBef>
              <a:spcAft>
                <a:spcPct val="0"/>
              </a:spcAft>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Predicts REAL / FAKE </a:t>
            </a:r>
          </a:p>
          <a:p>
            <a:pPr marL="457200" lvl="0" indent="-457200" algn="l" rtl="0" eaLnBrk="0" fontAlgn="base" hangingPunct="0">
              <a:spcBef>
                <a:spcPct val="0"/>
              </a:spcBef>
              <a:spcAft>
                <a:spcPct val="0"/>
              </a:spcAft>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Displays confidence score (%) </a:t>
            </a:r>
          </a:p>
          <a:p>
            <a:pPr marL="457200" lvl="0" indent="-457200" algn="l" rtl="0" eaLnBrk="0" fontAlgn="base" hangingPunct="0">
              <a:spcBef>
                <a:spcPct val="0"/>
              </a:spcBef>
              <a:spcAft>
                <a:spcPct val="0"/>
              </a:spcAft>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Supports both text &amp; image input</a:t>
            </a:r>
          </a:p>
          <a:p>
            <a:pPr lvl="0" algn="l" rtl="0" eaLnBrk="0" fontAlgn="base" hangingPunct="0">
              <a:spcBef>
                <a:spcPct val="0"/>
              </a:spcBef>
              <a:spcAft>
                <a:spcPct val="0"/>
              </a:spcAft>
            </a:pPr>
            <a:r>
              <a:rPr lang="en-US" altLang="en-US" b="1" dirty="0">
                <a:latin typeface="Times New Roman" panose="02020603050405020304" pitchFamily="18" charset="0"/>
                <a:cs typeface="Times New Roman" panose="02020603050405020304" pitchFamily="18" charset="0"/>
              </a:rPr>
              <a:t>Model </a:t>
            </a:r>
            <a:r>
              <a:rPr lang="en-US" altLang="en-US" b="1" dirty="0" err="1">
                <a:latin typeface="Times New Roman" panose="02020603050405020304" pitchFamily="18" charset="0"/>
                <a:cs typeface="Times New Roman" panose="02020603050405020304" pitchFamily="18" charset="0"/>
              </a:rPr>
              <a:t>Dectects</a:t>
            </a:r>
            <a:r>
              <a:rPr lang="en-US" altLang="en-US" b="1" dirty="0">
                <a:latin typeface="Times New Roman" panose="02020603050405020304" pitchFamily="18" charset="0"/>
                <a:cs typeface="Times New Roman" panose="02020603050405020304" pitchFamily="18" charset="0"/>
              </a:rPr>
              <a:t> </a:t>
            </a:r>
          </a:p>
          <a:p>
            <a:pPr marL="514350" lvl="0" indent="-514350" algn="l" rtl="0" eaLnBrk="0" fontAlgn="base" hangingPunct="0">
              <a:spcBef>
                <a:spcPct val="0"/>
              </a:spcBef>
              <a:spcAft>
                <a:spcPct val="0"/>
              </a:spcAft>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Fake vs Real News (Text)→ Identifies misleading or genuine news content</a:t>
            </a:r>
          </a:p>
          <a:p>
            <a:pPr marL="514350" lvl="0" indent="-514350" algn="l" rtl="0" eaLnBrk="0" fontAlgn="base" hangingPunct="0">
              <a:spcBef>
                <a:spcPct val="0"/>
              </a:spcBef>
              <a:spcAft>
                <a:spcPct val="0"/>
              </a:spcAft>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Images→ </a:t>
            </a:r>
            <a:r>
              <a:rPr lang="en-US" altLang="en-US" dirty="0" err="1">
                <a:latin typeface="Times New Roman" panose="02020603050405020304" pitchFamily="18" charset="0"/>
                <a:cs typeface="Times New Roman" panose="02020603050405020304" pitchFamily="18" charset="0"/>
              </a:rPr>
              <a:t>Detects:AI-generated</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images,Deepfakes,Morphed</a:t>
            </a:r>
            <a:r>
              <a:rPr lang="en-US" altLang="en-US" dirty="0">
                <a:latin typeface="Times New Roman" panose="02020603050405020304" pitchFamily="18" charset="0"/>
                <a:cs typeface="Times New Roman" panose="02020603050405020304" pitchFamily="18" charset="0"/>
              </a:rPr>
              <a:t> images</a:t>
            </a:r>
          </a:p>
          <a:p>
            <a:pPr lvl="0" algn="l" rtl="0" eaLnBrk="0" fontAlgn="base" hangingPunct="0">
              <a:spcBef>
                <a:spcPct val="0"/>
              </a:spcBef>
              <a:spcAft>
                <a:spcPct val="0"/>
              </a:spcAft>
            </a:pPr>
            <a:endParaRPr lang="en-US" altLang="en-US" dirty="0">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779529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A097DE-E7DF-2521-8C8C-5D55C4D82CCA}"/>
              </a:ext>
            </a:extLst>
          </p:cNvPr>
          <p:cNvSpPr>
            <a:spLocks noGrp="1"/>
          </p:cNvSpPr>
          <p:nvPr>
            <p:ph type="title"/>
          </p:nvPr>
        </p:nvSpPr>
        <p:spPr>
          <a:xfrm>
            <a:off x="381000" y="114301"/>
            <a:ext cx="14246004" cy="2492990"/>
          </a:xfrm>
        </p:spPr>
        <p:txBody>
          <a:bodyPr/>
          <a:lstStyle/>
          <a:p>
            <a:r>
              <a:rPr lang="en-IN" sz="5400" dirty="0"/>
              <a:t>OUTPUT SCREEN</a:t>
            </a:r>
            <a:br>
              <a:rPr lang="en-IN" sz="5400" dirty="0"/>
            </a:br>
            <a:br>
              <a:rPr lang="en-IN" sz="5400" dirty="0"/>
            </a:br>
            <a:r>
              <a:rPr lang="en-IN" sz="5400" dirty="0"/>
              <a:t>                                     </a:t>
            </a:r>
            <a:r>
              <a:rPr lang="en-IN" sz="3100" dirty="0"/>
              <a:t>TEXT PREDICTION</a:t>
            </a:r>
          </a:p>
        </p:txBody>
      </p:sp>
      <p:pic>
        <p:nvPicPr>
          <p:cNvPr id="10" name="Picture 9">
            <a:extLst>
              <a:ext uri="{FF2B5EF4-FFF2-40B4-BE49-F238E27FC236}">
                <a16:creationId xmlns:a16="http://schemas.microsoft.com/office/drawing/2014/main" id="{BDBB4137-AC89-AA49-DA61-98BF14B5C0D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123" y="2733286"/>
            <a:ext cx="9144000" cy="6067813"/>
          </a:xfrm>
          <a:prstGeom prst="rect">
            <a:avLst/>
          </a:prstGeom>
        </p:spPr>
      </p:pic>
      <p:pic>
        <p:nvPicPr>
          <p:cNvPr id="12" name="Picture 11">
            <a:extLst>
              <a:ext uri="{FF2B5EF4-FFF2-40B4-BE49-F238E27FC236}">
                <a16:creationId xmlns:a16="http://schemas.microsoft.com/office/drawing/2014/main" id="{B9D3ECF5-DA62-2F75-3C01-C68DB505F1C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56291" y="2717310"/>
            <a:ext cx="9152103" cy="6067813"/>
          </a:xfrm>
          <a:prstGeom prst="rect">
            <a:avLst/>
          </a:prstGeom>
        </p:spPr>
      </p:pic>
    </p:spTree>
    <p:extLst>
      <p:ext uri="{BB962C8B-B14F-4D97-AF65-F5344CB8AC3E}">
        <p14:creationId xmlns:p14="http://schemas.microsoft.com/office/powerpoint/2010/main" val="181625125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C10A35B9-E369-C66E-5488-B5ABE8FAF8B7}"/>
              </a:ext>
            </a:extLst>
          </p:cNvPr>
          <p:cNvSpPr>
            <a:spLocks noGrp="1"/>
          </p:cNvSpPr>
          <p:nvPr>
            <p:ph type="body" idx="1"/>
          </p:nvPr>
        </p:nvSpPr>
        <p:spPr>
          <a:xfrm>
            <a:off x="685800" y="723900"/>
            <a:ext cx="12039600" cy="477054"/>
          </a:xfrm>
        </p:spPr>
        <p:txBody>
          <a:bodyPr/>
          <a:lstStyle/>
          <a:p>
            <a:r>
              <a:rPr lang="en-IN" dirty="0"/>
              <a:t>I                                                          IMAGE PREDECTION</a:t>
            </a:r>
          </a:p>
        </p:txBody>
      </p:sp>
      <p:pic>
        <p:nvPicPr>
          <p:cNvPr id="5" name="Picture 4">
            <a:extLst>
              <a:ext uri="{FF2B5EF4-FFF2-40B4-BE49-F238E27FC236}">
                <a16:creationId xmlns:a16="http://schemas.microsoft.com/office/drawing/2014/main" id="{EFAA6DC0-2B49-6054-6251-5417742F897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66799" y="2342536"/>
            <a:ext cx="7086601" cy="7220564"/>
          </a:xfrm>
          <a:prstGeom prst="rect">
            <a:avLst/>
          </a:prstGeom>
        </p:spPr>
      </p:pic>
      <p:pic>
        <p:nvPicPr>
          <p:cNvPr id="7" name="Picture 6">
            <a:extLst>
              <a:ext uri="{FF2B5EF4-FFF2-40B4-BE49-F238E27FC236}">
                <a16:creationId xmlns:a16="http://schemas.microsoft.com/office/drawing/2014/main" id="{DDFFAEF1-A487-36FD-AE52-B4E35A9B200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762999" y="2324100"/>
            <a:ext cx="7620001" cy="7239000"/>
          </a:xfrm>
          <a:prstGeom prst="rect">
            <a:avLst/>
          </a:prstGeom>
        </p:spPr>
      </p:pic>
    </p:spTree>
    <p:extLst>
      <p:ext uri="{BB962C8B-B14F-4D97-AF65-F5344CB8AC3E}">
        <p14:creationId xmlns:p14="http://schemas.microsoft.com/office/powerpoint/2010/main" val="387082123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FA2CCDF1-7096-1773-25B6-503D6154311C}"/>
              </a:ext>
            </a:extLst>
          </p:cNvPr>
          <p:cNvSpPr>
            <a:spLocks noGrp="1"/>
          </p:cNvSpPr>
          <p:nvPr>
            <p:ph type="body" idx="1"/>
          </p:nvPr>
        </p:nvSpPr>
        <p:spPr>
          <a:xfrm>
            <a:off x="533400" y="495300"/>
            <a:ext cx="15300876" cy="477054"/>
          </a:xfrm>
        </p:spPr>
        <p:txBody>
          <a:bodyPr/>
          <a:lstStyle/>
          <a:p>
            <a:r>
              <a:rPr lang="en-IN" dirty="0"/>
              <a:t>                                                  BOTH TEXT AND IMAGE PREDICTION</a:t>
            </a:r>
          </a:p>
        </p:txBody>
      </p:sp>
      <p:pic>
        <p:nvPicPr>
          <p:cNvPr id="5" name="Picture 4">
            <a:extLst>
              <a:ext uri="{FF2B5EF4-FFF2-40B4-BE49-F238E27FC236}">
                <a16:creationId xmlns:a16="http://schemas.microsoft.com/office/drawing/2014/main" id="{77D182F9-92D8-34ED-186E-7FCC5B58E75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71601" y="1280573"/>
            <a:ext cx="7391399" cy="7725853"/>
          </a:xfrm>
          <a:prstGeom prst="rect">
            <a:avLst/>
          </a:prstGeom>
        </p:spPr>
      </p:pic>
      <p:pic>
        <p:nvPicPr>
          <p:cNvPr id="7" name="Picture 6">
            <a:extLst>
              <a:ext uri="{FF2B5EF4-FFF2-40B4-BE49-F238E27FC236}">
                <a16:creationId xmlns:a16="http://schemas.microsoft.com/office/drawing/2014/main" id="{89FDFC7A-F15E-1D7A-B20D-BEE7F05FB79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991600" y="1280573"/>
            <a:ext cx="8534400" cy="7725853"/>
          </a:xfrm>
          <a:prstGeom prst="rect">
            <a:avLst/>
          </a:prstGeom>
        </p:spPr>
      </p:pic>
    </p:spTree>
    <p:extLst>
      <p:ext uri="{BB962C8B-B14F-4D97-AF65-F5344CB8AC3E}">
        <p14:creationId xmlns:p14="http://schemas.microsoft.com/office/powerpoint/2010/main" val="292719996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F432E00-C5FB-801F-A41B-A5B26A54B1F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3630" y="905211"/>
            <a:ext cx="8625571" cy="8968753"/>
          </a:xfrm>
          <a:prstGeom prst="rect">
            <a:avLst/>
          </a:prstGeom>
        </p:spPr>
      </p:pic>
      <p:pic>
        <p:nvPicPr>
          <p:cNvPr id="9" name="Picture 8">
            <a:extLst>
              <a:ext uri="{FF2B5EF4-FFF2-40B4-BE49-F238E27FC236}">
                <a16:creationId xmlns:a16="http://schemas.microsoft.com/office/drawing/2014/main" id="{38E82AE9-901E-6912-BC51-CE77BA0A6DC4}"/>
              </a:ext>
            </a:extLst>
          </p:cNvPr>
          <p:cNvPicPr>
            <a:picLocks noChangeAspect="1"/>
          </p:cNvPicPr>
          <p:nvPr/>
        </p:nvPicPr>
        <p:blipFill>
          <a:blip r:embed="rId3"/>
          <a:stretch>
            <a:fillRect/>
          </a:stretch>
        </p:blipFill>
        <p:spPr>
          <a:xfrm>
            <a:off x="8742273" y="899147"/>
            <a:ext cx="9240928" cy="8968753"/>
          </a:xfrm>
          <a:prstGeom prst="rect">
            <a:avLst/>
          </a:prstGeom>
        </p:spPr>
      </p:pic>
    </p:spTree>
    <p:extLst>
      <p:ext uri="{BB962C8B-B14F-4D97-AF65-F5344CB8AC3E}">
        <p14:creationId xmlns:p14="http://schemas.microsoft.com/office/powerpoint/2010/main" val="355138766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17A787-43BF-45F8-3876-9994F25D99D2}"/>
              </a:ext>
            </a:extLst>
          </p:cNvPr>
          <p:cNvSpPr>
            <a:spLocks noGrp="1"/>
          </p:cNvSpPr>
          <p:nvPr>
            <p:ph type="title"/>
          </p:nvPr>
        </p:nvSpPr>
        <p:spPr>
          <a:xfrm>
            <a:off x="609600" y="419101"/>
            <a:ext cx="14017404" cy="830997"/>
          </a:xfrm>
        </p:spPr>
        <p:txBody>
          <a:bodyPr/>
          <a:lstStyle/>
          <a:p>
            <a:r>
              <a:rPr lang="en-IN" sz="5400" dirty="0"/>
              <a:t>CONCLUSION</a:t>
            </a:r>
          </a:p>
        </p:txBody>
      </p:sp>
      <p:sp>
        <p:nvSpPr>
          <p:cNvPr id="3" name="Text Placeholder 2">
            <a:extLst>
              <a:ext uri="{FF2B5EF4-FFF2-40B4-BE49-F238E27FC236}">
                <a16:creationId xmlns:a16="http://schemas.microsoft.com/office/drawing/2014/main" id="{23E9A0EA-885E-0E3B-D529-E5031CE41BDA}"/>
              </a:ext>
            </a:extLst>
          </p:cNvPr>
          <p:cNvSpPr>
            <a:spLocks noGrp="1"/>
          </p:cNvSpPr>
          <p:nvPr>
            <p:ph type="body" idx="1"/>
          </p:nvPr>
        </p:nvSpPr>
        <p:spPr>
          <a:xfrm>
            <a:off x="1066800" y="2171700"/>
            <a:ext cx="14767476" cy="4293483"/>
          </a:xfrm>
        </p:spPr>
        <p:txBody>
          <a:bodyPr/>
          <a:lstStyle/>
          <a:p>
            <a:pPr algn="just"/>
            <a:r>
              <a:rPr lang="en-US" dirty="0">
                <a:latin typeface="Times New Roman" panose="02020603050405020304" pitchFamily="18" charset="0"/>
                <a:cs typeface="Times New Roman" panose="02020603050405020304" pitchFamily="18" charset="0"/>
              </a:rPr>
              <a:t>This project presents a multimodal fake news detection system that analyzes both text and images to identify misinformation. By using advanced AI models for text understanding and image analysis, the system can accurately detect fake news content. It provides separate results for text and images, making the output more clear and transparent. Compared to traditional systems that focus only on text, this approach improves accuracy, reliability, and interpretability. The proposed system can be effectively used for social media monitoring, fact-checking, and digital news verification in real-world applications.</a:t>
            </a:r>
          </a:p>
          <a:p>
            <a:pPr algn="just"/>
            <a:endParaRPr lang="en-IN" dirty="0">
              <a:latin typeface="Times New Roman" panose="02020603050405020304" pitchFamily="18" charset="0"/>
              <a:cs typeface="Times New Roman" panose="02020603050405020304" pitchFamily="18" charset="0"/>
            </a:endParaRPr>
          </a:p>
          <a:p>
            <a:pPr algn="just"/>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4310271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6E37E2-7AC3-BAE4-0C8B-9A3B47699444}"/>
              </a:ext>
            </a:extLst>
          </p:cNvPr>
          <p:cNvSpPr>
            <a:spLocks noGrp="1"/>
          </p:cNvSpPr>
          <p:nvPr>
            <p:ph type="title"/>
          </p:nvPr>
        </p:nvSpPr>
        <p:spPr>
          <a:xfrm>
            <a:off x="381000" y="254437"/>
            <a:ext cx="12573000" cy="730969"/>
          </a:xfrm>
        </p:spPr>
        <p:txBody>
          <a:bodyPr/>
          <a:lstStyle/>
          <a:p>
            <a:r>
              <a:rPr lang="en-US" dirty="0"/>
              <a:t>REFERENCE</a:t>
            </a:r>
            <a:endParaRPr lang="en-IN" dirty="0"/>
          </a:p>
        </p:txBody>
      </p:sp>
      <p:sp>
        <p:nvSpPr>
          <p:cNvPr id="3" name="Text Placeholder 2">
            <a:extLst>
              <a:ext uri="{FF2B5EF4-FFF2-40B4-BE49-F238E27FC236}">
                <a16:creationId xmlns:a16="http://schemas.microsoft.com/office/drawing/2014/main" id="{37EE1DE7-1626-3C19-3DE2-CA9393DDAF35}"/>
              </a:ext>
            </a:extLst>
          </p:cNvPr>
          <p:cNvSpPr>
            <a:spLocks noGrp="1"/>
          </p:cNvSpPr>
          <p:nvPr>
            <p:ph type="body" idx="1"/>
          </p:nvPr>
        </p:nvSpPr>
        <p:spPr>
          <a:xfrm>
            <a:off x="533400" y="1485900"/>
            <a:ext cx="15300876" cy="7371249"/>
          </a:xfrm>
        </p:spPr>
        <p:txBody>
          <a:bodyPr/>
          <a:lstStyle/>
          <a:p>
            <a:pPr marL="457200" marR="0" lvl="0" indent="-4572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altLang="en-US" sz="3200" b="1" dirty="0">
                <a:latin typeface="Times New Roman" panose="02020603050405020304" pitchFamily="18" charset="0"/>
                <a:cs typeface="Times New Roman" panose="02020603050405020304" pitchFamily="18" charset="0"/>
              </a:rPr>
              <a:t>Ahmed Hashim Jawad </a:t>
            </a:r>
            <a:r>
              <a:rPr lang="en-US" altLang="en-US" sz="3200" b="1" dirty="0" err="1">
                <a:latin typeface="Times New Roman" panose="02020603050405020304" pitchFamily="18" charset="0"/>
                <a:cs typeface="Times New Roman" panose="02020603050405020304" pitchFamily="18" charset="0"/>
              </a:rPr>
              <a:t>Almarashy</a:t>
            </a:r>
            <a:r>
              <a:rPr lang="en-US" altLang="en-US" sz="3200" b="1" dirty="0">
                <a:latin typeface="Times New Roman" panose="02020603050405020304" pitchFamily="18" charset="0"/>
                <a:cs typeface="Times New Roman" panose="02020603050405020304" pitchFamily="18" charset="0"/>
              </a:rPr>
              <a:t> et al.</a:t>
            </a:r>
            <a:r>
              <a:rPr lang="en-US" altLang="en-US" sz="3200" dirty="0">
                <a:latin typeface="Times New Roman" panose="02020603050405020304" pitchFamily="18" charset="0"/>
                <a:cs typeface="Times New Roman" panose="02020603050405020304" pitchFamily="18" charset="0"/>
              </a:rPr>
              <a:t>,</a:t>
            </a:r>
            <a:br>
              <a:rPr lang="en-US" altLang="en-US" sz="3200" dirty="0">
                <a:latin typeface="Times New Roman" panose="02020603050405020304" pitchFamily="18" charset="0"/>
                <a:cs typeface="Times New Roman" panose="02020603050405020304" pitchFamily="18" charset="0"/>
              </a:rPr>
            </a:br>
            <a:r>
              <a:rPr lang="en-US" altLang="en-US" sz="3200" i="1" dirty="0">
                <a:latin typeface="Times New Roman" panose="02020603050405020304" pitchFamily="18" charset="0"/>
                <a:cs typeface="Times New Roman" panose="02020603050405020304" pitchFamily="18" charset="0"/>
              </a:rPr>
              <a:t>“Elevating Fake News Detection Through Deep Neural Networks, Encoding Fused Multi-Modal </a:t>
            </a:r>
            <a:r>
              <a:rPr lang="en-US" altLang="en-US" sz="3200" i="1" dirty="0" err="1">
                <a:latin typeface="Times New Roman" panose="02020603050405020304" pitchFamily="18" charset="0"/>
                <a:cs typeface="Times New Roman" panose="02020603050405020304" pitchFamily="18" charset="0"/>
              </a:rPr>
              <a:t>Features”</a:t>
            </a:r>
            <a:r>
              <a:rPr lang="en-US" altLang="en-US" sz="3200" dirty="0" err="1">
                <a:latin typeface="Times New Roman" panose="02020603050405020304" pitchFamily="18" charset="0"/>
                <a:cs typeface="Times New Roman" panose="02020603050405020304" pitchFamily="18" charset="0"/>
              </a:rPr>
              <a:t>,IEEE</a:t>
            </a:r>
            <a:r>
              <a:rPr lang="en-US" altLang="en-US" sz="3200" dirty="0">
                <a:latin typeface="Times New Roman" panose="02020603050405020304" pitchFamily="18" charset="0"/>
                <a:cs typeface="Times New Roman" panose="02020603050405020304" pitchFamily="18" charset="0"/>
              </a:rPr>
              <a:t> Access, 2024.</a:t>
            </a:r>
          </a:p>
          <a:p>
            <a:pPr marL="457200" marR="0" lvl="0" indent="-4572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altLang="en-US" sz="3200" b="1" dirty="0">
                <a:latin typeface="Times New Roman" panose="02020603050405020304" pitchFamily="18" charset="0"/>
                <a:cs typeface="Times New Roman" panose="02020603050405020304" pitchFamily="18" charset="0"/>
              </a:rPr>
              <a:t>Jin et al.</a:t>
            </a:r>
            <a:r>
              <a:rPr lang="en-US" altLang="en-US" sz="3200" dirty="0">
                <a:latin typeface="Times New Roman" panose="02020603050405020304" pitchFamily="18" charset="0"/>
                <a:cs typeface="Times New Roman" panose="02020603050405020304" pitchFamily="18" charset="0"/>
              </a:rPr>
              <a:t>,</a:t>
            </a:r>
            <a:br>
              <a:rPr lang="en-US" altLang="en-US" sz="3200" dirty="0">
                <a:latin typeface="Times New Roman" panose="02020603050405020304" pitchFamily="18" charset="0"/>
                <a:cs typeface="Times New Roman" panose="02020603050405020304" pitchFamily="18" charset="0"/>
              </a:rPr>
            </a:br>
            <a:r>
              <a:rPr lang="en-US" altLang="en-US" sz="3200" i="1" dirty="0">
                <a:latin typeface="Times New Roman" panose="02020603050405020304" pitchFamily="18" charset="0"/>
                <a:cs typeface="Times New Roman" panose="02020603050405020304" pitchFamily="18" charset="0"/>
              </a:rPr>
              <a:t>“Multimodal Fusion with Recurrent Neural Networks for Rumor </a:t>
            </a:r>
            <a:r>
              <a:rPr lang="en-US" altLang="en-US" sz="3200" i="1" dirty="0" err="1">
                <a:latin typeface="Times New Roman" panose="02020603050405020304" pitchFamily="18" charset="0"/>
                <a:cs typeface="Times New Roman" panose="02020603050405020304" pitchFamily="18" charset="0"/>
              </a:rPr>
              <a:t>Detection”</a:t>
            </a:r>
            <a:r>
              <a:rPr lang="en-US" altLang="en-US" sz="3200" dirty="0" err="1">
                <a:latin typeface="Times New Roman" panose="02020603050405020304" pitchFamily="18" charset="0"/>
                <a:cs typeface="Times New Roman" panose="02020603050405020304" pitchFamily="18" charset="0"/>
              </a:rPr>
              <a:t>,ACM</a:t>
            </a:r>
            <a:r>
              <a:rPr lang="en-US" altLang="en-US" sz="3200" dirty="0">
                <a:latin typeface="Times New Roman" panose="02020603050405020304" pitchFamily="18" charset="0"/>
                <a:cs typeface="Times New Roman" panose="02020603050405020304" pitchFamily="18" charset="0"/>
              </a:rPr>
              <a:t> Multimedia, 2017.</a:t>
            </a:r>
          </a:p>
          <a:p>
            <a:pPr marL="457200" marR="0" lvl="0" indent="-4572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altLang="en-US" sz="3200" b="1" dirty="0">
                <a:latin typeface="Times New Roman" panose="02020603050405020304" pitchFamily="18" charset="0"/>
                <a:cs typeface="Times New Roman" panose="02020603050405020304" pitchFamily="18" charset="0"/>
              </a:rPr>
              <a:t>Nakamura et al.</a:t>
            </a:r>
            <a:r>
              <a:rPr lang="en-US" altLang="en-US" sz="3200" dirty="0">
                <a:latin typeface="Times New Roman" panose="02020603050405020304" pitchFamily="18" charset="0"/>
                <a:cs typeface="Times New Roman" panose="02020603050405020304" pitchFamily="18" charset="0"/>
              </a:rPr>
              <a:t>,</a:t>
            </a:r>
            <a:br>
              <a:rPr lang="en-US" altLang="en-US" sz="3200" dirty="0">
                <a:latin typeface="Times New Roman" panose="02020603050405020304" pitchFamily="18" charset="0"/>
                <a:cs typeface="Times New Roman" panose="02020603050405020304" pitchFamily="18" charset="0"/>
              </a:rPr>
            </a:br>
            <a:r>
              <a:rPr lang="en-US" altLang="en-US" sz="3200" i="1" dirty="0">
                <a:latin typeface="Times New Roman" panose="02020603050405020304" pitchFamily="18" charset="0"/>
                <a:cs typeface="Times New Roman" panose="02020603050405020304" pitchFamily="18" charset="0"/>
              </a:rPr>
              <a:t>“FAKEDDIT: A Multimodal Benchmark Dataset for Fake News Detection”</a:t>
            </a:r>
            <a:r>
              <a:rPr lang="en-US" altLang="en-US" sz="3200" dirty="0">
                <a:latin typeface="Times New Roman" panose="02020603050405020304" pitchFamily="18" charset="0"/>
                <a:cs typeface="Times New Roman" panose="02020603050405020304" pitchFamily="18" charset="0"/>
              </a:rPr>
              <a:t>,2019.</a:t>
            </a:r>
          </a:p>
          <a:p>
            <a:pPr marL="457200" marR="0" lvl="0" indent="-4572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altLang="en-US" sz="3200" b="1" dirty="0">
                <a:latin typeface="Times New Roman" panose="02020603050405020304" pitchFamily="18" charset="0"/>
                <a:cs typeface="Times New Roman" panose="02020603050405020304" pitchFamily="18" charset="0"/>
              </a:rPr>
              <a:t>Devlin et al.</a:t>
            </a:r>
            <a:r>
              <a:rPr lang="en-US" altLang="en-US" sz="3200" dirty="0">
                <a:latin typeface="Times New Roman" panose="02020603050405020304" pitchFamily="18" charset="0"/>
                <a:cs typeface="Times New Roman" panose="02020603050405020304" pitchFamily="18" charset="0"/>
              </a:rPr>
              <a:t>,</a:t>
            </a:r>
            <a:br>
              <a:rPr lang="en-US" altLang="en-US" sz="3200" dirty="0">
                <a:latin typeface="Times New Roman" panose="02020603050405020304" pitchFamily="18" charset="0"/>
                <a:cs typeface="Times New Roman" panose="02020603050405020304" pitchFamily="18" charset="0"/>
              </a:rPr>
            </a:br>
            <a:r>
              <a:rPr lang="en-US" altLang="en-US" sz="3200" i="1" dirty="0">
                <a:latin typeface="Times New Roman" panose="02020603050405020304" pitchFamily="18" charset="0"/>
                <a:cs typeface="Times New Roman" panose="02020603050405020304" pitchFamily="18" charset="0"/>
              </a:rPr>
              <a:t>“BERT: Pre-training of Deep Bidirectional Transformers for Language Understanding”</a:t>
            </a:r>
            <a:r>
              <a:rPr lang="en-US" altLang="en-US" sz="3200" dirty="0">
                <a:latin typeface="Times New Roman" panose="02020603050405020304" pitchFamily="18" charset="0"/>
                <a:cs typeface="Times New Roman" panose="02020603050405020304" pitchFamily="18" charset="0"/>
              </a:rPr>
              <a:t>,2018.</a:t>
            </a:r>
          </a:p>
          <a:p>
            <a:pPr marL="457200" marR="0" lvl="0" indent="-4572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altLang="en-US" sz="3200" b="1" dirty="0">
                <a:latin typeface="Times New Roman" panose="02020603050405020304" pitchFamily="18" charset="0"/>
                <a:cs typeface="Times New Roman" panose="02020603050405020304" pitchFamily="18" charset="0"/>
              </a:rPr>
              <a:t>He et al.</a:t>
            </a:r>
            <a:r>
              <a:rPr lang="en-US" altLang="en-US" sz="3200" dirty="0">
                <a:latin typeface="Times New Roman" panose="02020603050405020304" pitchFamily="18" charset="0"/>
                <a:cs typeface="Times New Roman" panose="02020603050405020304" pitchFamily="18" charset="0"/>
              </a:rPr>
              <a:t>,</a:t>
            </a:r>
            <a:br>
              <a:rPr lang="en-US" altLang="en-US" sz="3200" dirty="0">
                <a:latin typeface="Times New Roman" panose="02020603050405020304" pitchFamily="18" charset="0"/>
                <a:cs typeface="Times New Roman" panose="02020603050405020304" pitchFamily="18" charset="0"/>
              </a:rPr>
            </a:br>
            <a:r>
              <a:rPr lang="en-US" altLang="en-US" sz="3200" i="1" dirty="0">
                <a:latin typeface="Times New Roman" panose="02020603050405020304" pitchFamily="18" charset="0"/>
                <a:cs typeface="Times New Roman" panose="02020603050405020304" pitchFamily="18" charset="0"/>
              </a:rPr>
              <a:t>“Deep Residual Learning for Image </a:t>
            </a:r>
            <a:r>
              <a:rPr lang="en-US" altLang="en-US" sz="3200" i="1" dirty="0" err="1">
                <a:latin typeface="Times New Roman" panose="02020603050405020304" pitchFamily="18" charset="0"/>
                <a:cs typeface="Times New Roman" panose="02020603050405020304" pitchFamily="18" charset="0"/>
              </a:rPr>
              <a:t>Recognition”</a:t>
            </a:r>
            <a:r>
              <a:rPr lang="en-US" altLang="en-US" sz="3200" dirty="0" err="1">
                <a:latin typeface="Times New Roman" panose="02020603050405020304" pitchFamily="18" charset="0"/>
                <a:cs typeface="Times New Roman" panose="02020603050405020304" pitchFamily="18" charset="0"/>
              </a:rPr>
              <a:t>,CVPR</a:t>
            </a:r>
            <a:r>
              <a:rPr lang="en-US" altLang="en-US" sz="3200" dirty="0">
                <a:latin typeface="Times New Roman" panose="02020603050405020304" pitchFamily="18" charset="0"/>
                <a:cs typeface="Times New Roman" panose="02020603050405020304" pitchFamily="18" charset="0"/>
              </a:rPr>
              <a:t>, 2016.</a:t>
            </a:r>
            <a:br>
              <a:rPr lang="en-US" altLang="en-US" sz="3200" dirty="0">
                <a:latin typeface="Times New Roman" panose="02020603050405020304" pitchFamily="18" charset="0"/>
                <a:cs typeface="Times New Roman" panose="02020603050405020304" pitchFamily="18" charset="0"/>
              </a:rPr>
            </a:br>
            <a:endParaRPr lang="en-US" altLang="en-US" sz="3200"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19219611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5C5B9A-50AF-F17A-5D1A-FAEB39D8699D}"/>
              </a:ext>
            </a:extLst>
          </p:cNvPr>
          <p:cNvSpPr>
            <a:spLocks noGrp="1"/>
          </p:cNvSpPr>
          <p:nvPr>
            <p:ph type="title"/>
          </p:nvPr>
        </p:nvSpPr>
        <p:spPr>
          <a:xfrm>
            <a:off x="5181600" y="4305299"/>
            <a:ext cx="9448800" cy="2514601"/>
          </a:xfrm>
        </p:spPr>
        <p:txBody>
          <a:bodyPr/>
          <a:lstStyle/>
          <a:p>
            <a:r>
              <a:rPr lang="en-IN" sz="9600" i="1" dirty="0"/>
              <a:t> ANY QUERIES?</a:t>
            </a:r>
            <a:endParaRPr lang="en-IN" sz="9600" dirty="0"/>
          </a:p>
        </p:txBody>
      </p:sp>
    </p:spTree>
    <p:extLst>
      <p:ext uri="{BB962C8B-B14F-4D97-AF65-F5344CB8AC3E}">
        <p14:creationId xmlns:p14="http://schemas.microsoft.com/office/powerpoint/2010/main" val="243616265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71F78F-2EE9-1DC2-B3F7-CA67F74DFC8C}"/>
              </a:ext>
            </a:extLst>
          </p:cNvPr>
          <p:cNvSpPr>
            <a:spLocks noGrp="1"/>
          </p:cNvSpPr>
          <p:nvPr>
            <p:ph type="title"/>
          </p:nvPr>
        </p:nvSpPr>
        <p:spPr>
          <a:xfrm>
            <a:off x="5181600" y="4000500"/>
            <a:ext cx="11776710" cy="1324928"/>
          </a:xfrm>
        </p:spPr>
        <p:txBody>
          <a:bodyPr/>
          <a:lstStyle/>
          <a:p>
            <a:r>
              <a:rPr lang="en-IN" sz="9600" i="1" dirty="0"/>
              <a:t> THANK YOU!</a:t>
            </a:r>
            <a:endParaRPr lang="en-IN" sz="9600" dirty="0"/>
          </a:p>
        </p:txBody>
      </p:sp>
    </p:spTree>
    <p:extLst>
      <p:ext uri="{BB962C8B-B14F-4D97-AF65-F5344CB8AC3E}">
        <p14:creationId xmlns:p14="http://schemas.microsoft.com/office/powerpoint/2010/main" val="143490341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2980B9"/>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443</TotalTime>
  <Words>1456</Words>
  <Application>Microsoft Office PowerPoint</Application>
  <PresentationFormat>Custom</PresentationFormat>
  <Paragraphs>131</Paragraphs>
  <Slides>21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21</vt:i4>
      </vt:variant>
    </vt:vector>
  </HeadingPairs>
  <TitlesOfParts>
    <vt:vector size="25" baseType="lpstr">
      <vt:lpstr>Arial</vt:lpstr>
      <vt:lpstr>Poppins</vt:lpstr>
      <vt:lpstr>Times New Roman</vt:lpstr>
      <vt:lpstr>Office Theme</vt:lpstr>
      <vt:lpstr>FAKE NEWS AND IMAGE DETECTION USING TEXT -ANALYSIS AND AI GENERATED IMAGE IDENTIFICATION</vt:lpstr>
      <vt:lpstr>ABSTRACT</vt:lpstr>
      <vt:lpstr>SCOPE OF THE PROJECT</vt:lpstr>
      <vt:lpstr>EXISTING SYSTEM</vt:lpstr>
      <vt:lpstr>LIMITATIONS OF EXISTING SYSTEM</vt:lpstr>
      <vt:lpstr>PROPOSED SYSTEM</vt:lpstr>
      <vt:lpstr>SYSTEM ARCHITECTURE:</vt:lpstr>
      <vt:lpstr>PowerPoint Presentation</vt:lpstr>
      <vt:lpstr>DESIGN</vt:lpstr>
      <vt:lpstr>PowerPoint Presentation</vt:lpstr>
      <vt:lpstr>IMPLEMENTATION OF CODE</vt:lpstr>
      <vt:lpstr>PowerPoint Presentation</vt:lpstr>
      <vt:lpstr>RESULTS</vt:lpstr>
      <vt:lpstr>OUTPUT SCREEN                                       TEXT PREDICTION</vt:lpstr>
      <vt:lpstr>PowerPoint Presentation</vt:lpstr>
      <vt:lpstr>PowerPoint Presentation</vt:lpstr>
      <vt:lpstr>PowerPoint Presentation</vt:lpstr>
      <vt:lpstr>CONCLUSION</vt:lpstr>
      <vt:lpstr>REFERENCE</vt:lpstr>
      <vt:lpstr> ANY QUERIES?</vt:lpstr>
      <vt:lpstr> 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FAKE</dc:title>
  <dc:creator>HARSHA VARDHANI RAYAPUDI</dc:creator>
  <cp:lastModifiedBy>HARSHA VARDHANI RAYAPUDI</cp:lastModifiedBy>
  <cp:revision>5</cp:revision>
  <dcterms:created xsi:type="dcterms:W3CDTF">2026-03-26T16:27:49Z</dcterms:created>
  <dcterms:modified xsi:type="dcterms:W3CDTF">2026-04-02T07:34:27Z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2026-03-25T00:00:00Z</vt:filetime>
  </property>
  <property fmtid="{D5CDD505-2E9C-101B-9397-08002B2CF9AE}" pid="3" name="LastSaved">
    <vt:filetime>2026-03-26T00:00:00Z</vt:filetime>
  </property>
  <property fmtid="{D5CDD505-2E9C-101B-9397-08002B2CF9AE}" pid="4" name="Producer">
    <vt:lpwstr>Canva</vt:lpwstr>
  </property>
</Properties>
</file>